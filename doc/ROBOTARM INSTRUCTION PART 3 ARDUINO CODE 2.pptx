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2"/>
  </p:notesMasterIdLst>
  <p:sldIdLst>
    <p:sldId id="256" r:id="rId2"/>
    <p:sldId id="412" r:id="rId3"/>
    <p:sldId id="401" r:id="rId4"/>
    <p:sldId id="402" r:id="rId5"/>
    <p:sldId id="403" r:id="rId6"/>
    <p:sldId id="399" r:id="rId7"/>
    <p:sldId id="404" r:id="rId8"/>
    <p:sldId id="414" r:id="rId9"/>
    <p:sldId id="413" r:id="rId10"/>
    <p:sldId id="406" r:id="rId11"/>
    <p:sldId id="407" r:id="rId12"/>
    <p:sldId id="409" r:id="rId13"/>
    <p:sldId id="415" r:id="rId14"/>
    <p:sldId id="382" r:id="rId15"/>
    <p:sldId id="377" r:id="rId16"/>
    <p:sldId id="386" r:id="rId17"/>
    <p:sldId id="417" r:id="rId18"/>
    <p:sldId id="416" r:id="rId19"/>
    <p:sldId id="418" r:id="rId20"/>
    <p:sldId id="287" r:id="rId21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23"/>
    </p:embeddedFont>
    <p:embeddedFont>
      <p:font typeface="나눔스퀘어" panose="020B0600000101010101" pitchFamily="50" charset="-127"/>
      <p:regular r:id="rId24"/>
    </p:embeddedFont>
    <p:embeddedFont>
      <p:font typeface="나눔스퀘어 ExtraBold" panose="020B0600000101010101" pitchFamily="50" charset="-127"/>
      <p:bold r:id="rId25"/>
    </p:embeddedFont>
    <p:embeddedFont>
      <p:font typeface="맑은 고딕" panose="020B0503020000020004" pitchFamily="50" charset="-127"/>
      <p:regular r:id="rId26"/>
      <p:bold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  <a:srgbClr val="00FFFF"/>
    <a:srgbClr val="094A9A"/>
    <a:srgbClr val="08499A"/>
    <a:srgbClr val="843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214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72" y="11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8" d="100"/>
          <a:sy n="88" d="100"/>
        </p:scale>
        <p:origin x="373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나건우" userId="4798303a-b545-4662-a1fb-96c34e520384" providerId="ADAL" clId="{2A539EF9-7E76-A04C-BA4E-61BDDD47DA72}"/>
    <pc:docChg chg="modSld">
      <pc:chgData name="나건우" userId="4798303a-b545-4662-a1fb-96c34e520384" providerId="ADAL" clId="{2A539EF9-7E76-A04C-BA4E-61BDDD47DA72}" dt="2024-05-30T02:21:59.738" v="5" actId="20577"/>
      <pc:docMkLst>
        <pc:docMk/>
      </pc:docMkLst>
      <pc:sldChg chg="modSp">
        <pc:chgData name="나건우" userId="4798303a-b545-4662-a1fb-96c34e520384" providerId="ADAL" clId="{2A539EF9-7E76-A04C-BA4E-61BDDD47DA72}" dt="2024-05-30T02:21:59.738" v="5" actId="20577"/>
        <pc:sldMkLst>
          <pc:docMk/>
          <pc:sldMk cId="4153753809" sldId="354"/>
        </pc:sldMkLst>
        <pc:spChg chg="mod">
          <ac:chgData name="나건우" userId="4798303a-b545-4662-a1fb-96c34e520384" providerId="ADAL" clId="{2A539EF9-7E76-A04C-BA4E-61BDDD47DA72}" dt="2024-05-30T02:21:59.738" v="5" actId="20577"/>
          <ac:spMkLst>
            <pc:docMk/>
            <pc:sldMk cId="4153753809" sldId="354"/>
            <ac:spMk id="33" creationId="{1AEC0DFF-E33A-491B-B1BD-8B1581D9B49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AD454-BDB7-44FD-8A6C-5DBF5B86A15C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1F596-1966-4969-9200-CE14E4E695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53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214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5A6E4C-DDA8-4C27-8DE7-AD99B5E58B22}"/>
              </a:ext>
            </a:extLst>
          </p:cNvPr>
          <p:cNvSpPr/>
          <p:nvPr userDrawn="1"/>
        </p:nvSpPr>
        <p:spPr>
          <a:xfrm>
            <a:off x="0" y="3"/>
            <a:ext cx="9144000" cy="136525"/>
          </a:xfrm>
          <a:prstGeom prst="rect">
            <a:avLst/>
          </a:prstGeom>
          <a:solidFill>
            <a:srgbClr val="0849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1F3A0-D0A5-449A-A427-FF901749649E}"/>
              </a:ext>
            </a:extLst>
          </p:cNvPr>
          <p:cNvSpPr txBox="1"/>
          <p:nvPr userDrawn="1"/>
        </p:nvSpPr>
        <p:spPr>
          <a:xfrm>
            <a:off x="8705173" y="6585864"/>
            <a:ext cx="4022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634D41C-899E-49B6-8A5A-70C3A2ACB06B}" type="slidenum">
              <a:rPr lang="ko-KR" altLang="en-US" sz="1050" b="1" smtClean="0">
                <a:solidFill>
                  <a:schemeClr val="tx1"/>
                </a:solidFill>
              </a:rPr>
              <a:pPr algn="r"/>
              <a:t>‹#›</a:t>
            </a:fld>
            <a:endParaRPr lang="ko-KR" altLang="en-US" sz="1050" b="1" dirty="0">
              <a:solidFill>
                <a:schemeClr val="tx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525BAB6-FC00-49D1-88C0-3BE14CA4D382}"/>
              </a:ext>
            </a:extLst>
          </p:cNvPr>
          <p:cNvCxnSpPr/>
          <p:nvPr userDrawn="1"/>
        </p:nvCxnSpPr>
        <p:spPr>
          <a:xfrm>
            <a:off x="0" y="6557289"/>
            <a:ext cx="9144000" cy="0"/>
          </a:xfrm>
          <a:prstGeom prst="line">
            <a:avLst/>
          </a:prstGeom>
          <a:ln w="19050">
            <a:solidFill>
              <a:srgbClr val="0849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FEC81FD4-5B4F-4254-B694-3A69DA088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47" y="6604250"/>
            <a:ext cx="920706" cy="21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21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18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401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96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818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581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36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257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74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32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90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pos="249" userDrawn="1">
          <p15:clr>
            <a:srgbClr val="F26B43"/>
          </p15:clr>
        </p15:guide>
        <p15:guide id="5" orient="horz" pos="142" userDrawn="1">
          <p15:clr>
            <a:srgbClr val="F26B43"/>
          </p15:clr>
        </p15:guide>
        <p15:guide id="6" orient="horz" pos="414" userDrawn="1">
          <p15:clr>
            <a:srgbClr val="F26B43"/>
          </p15:clr>
        </p15:guide>
        <p15:guide id="7" pos="90" userDrawn="1">
          <p15:clr>
            <a:srgbClr val="F26B43"/>
          </p15:clr>
        </p15:guide>
        <p15:guide id="8" orient="horz" pos="6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hyperlink" Target="https://www.airspayce.com/mikem/arduino/AccelStepper/classAccelStepper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09Mpkjcr0bo&amp;t=188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220.png"/><Relationship Id="rId18" Type="http://schemas.openxmlformats.org/officeDocument/2006/relationships/image" Target="NULL"/><Relationship Id="rId3" Type="http://schemas.microsoft.com/office/2007/relationships/hdphoto" Target="../media/hdphoto1.wdp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5.png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../media/image27.png"/><Relationship Id="rId3" Type="http://schemas.microsoft.com/office/2007/relationships/hdphoto" Target="../media/hdphoto2.wdp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15.png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26.png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../media/image25.png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65B474-B50E-6AAD-C85E-EFCDE8E16D80}"/>
              </a:ext>
            </a:extLst>
          </p:cNvPr>
          <p:cNvSpPr txBox="1"/>
          <p:nvPr/>
        </p:nvSpPr>
        <p:spPr>
          <a:xfrm>
            <a:off x="201153" y="1833086"/>
            <a:ext cx="8754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ROBOT ARM INSTRUCTION </a:t>
            </a:r>
          </a:p>
          <a:p>
            <a:pPr algn="ctr"/>
            <a:r>
              <a:rPr lang="en-US" altLang="ko-KR" sz="3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PART.3 – ARDUINO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D1AB2-7874-1CA6-68AF-6FAE2E800E95}"/>
              </a:ext>
            </a:extLst>
          </p:cNvPr>
          <p:cNvSpPr txBox="1"/>
          <p:nvPr/>
        </p:nvSpPr>
        <p:spPr>
          <a:xfrm>
            <a:off x="1284278" y="3580444"/>
            <a:ext cx="65770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Prof. </a:t>
            </a:r>
            <a:r>
              <a:rPr lang="en-US" altLang="ko-KR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Wooyong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Kim</a:t>
            </a:r>
          </a:p>
          <a:p>
            <a:pPr algn="ctr"/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Assistant. </a:t>
            </a:r>
            <a:r>
              <a:rPr lang="en-US" altLang="ko-KR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Dongsik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Park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Department of Biomedical &amp; Robotics Engineering,</a:t>
            </a:r>
          </a:p>
          <a:p>
            <a:pPr algn="ctr"/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Incheon National University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D09BCC-8708-2924-5533-2714FE84C1CB}"/>
              </a:ext>
            </a:extLst>
          </p:cNvPr>
          <p:cNvSpPr txBox="1"/>
          <p:nvPr/>
        </p:nvSpPr>
        <p:spPr>
          <a:xfrm>
            <a:off x="2286046" y="5164822"/>
            <a:ext cx="4574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>
                <a:latin typeface="나눔스퀘어" panose="020B0600000101010101" pitchFamily="50" charset="-127"/>
                <a:ea typeface="나눔스퀘어" panose="020B0600000101010101" pitchFamily="50" charset="-127"/>
              </a:rPr>
              <a:t>Summer, 2026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8F45B34-737D-4B00-810B-5E9D855968D5}"/>
              </a:ext>
            </a:extLst>
          </p:cNvPr>
          <p:cNvCxnSpPr>
            <a:cxnSpLocks/>
          </p:cNvCxnSpPr>
          <p:nvPr/>
        </p:nvCxnSpPr>
        <p:spPr>
          <a:xfrm>
            <a:off x="662282" y="3083208"/>
            <a:ext cx="7818711" cy="0"/>
          </a:xfrm>
          <a:prstGeom prst="line">
            <a:avLst/>
          </a:prstGeom>
          <a:ln w="19050">
            <a:solidFill>
              <a:srgbClr val="094A9A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E51C3B-A394-42AF-9FA5-D6AFDFE9224B}"/>
              </a:ext>
            </a:extLst>
          </p:cNvPr>
          <p:cNvCxnSpPr>
            <a:cxnSpLocks/>
          </p:cNvCxnSpPr>
          <p:nvPr/>
        </p:nvCxnSpPr>
        <p:spPr>
          <a:xfrm>
            <a:off x="662282" y="1244316"/>
            <a:ext cx="7818711" cy="0"/>
          </a:xfrm>
          <a:prstGeom prst="line">
            <a:avLst/>
          </a:prstGeom>
          <a:ln w="19050">
            <a:solidFill>
              <a:srgbClr val="094A9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AA186EBC-48B8-481F-AC77-174DCD01E7CC}"/>
              </a:ext>
            </a:extLst>
          </p:cNvPr>
          <p:cNvGrpSpPr/>
          <p:nvPr/>
        </p:nvGrpSpPr>
        <p:grpSpPr>
          <a:xfrm>
            <a:off x="2434852" y="5998225"/>
            <a:ext cx="4276464" cy="597557"/>
            <a:chOff x="2434852" y="5998225"/>
            <a:chExt cx="4276464" cy="597557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3F60BFB4-4961-4B6B-A638-2B9ED8742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4852" y="6020001"/>
              <a:ext cx="2388077" cy="554006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23013B90-66B5-468C-A396-EB968E1330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430" r="5092" b="15399"/>
            <a:stretch/>
          </p:blipFill>
          <p:spPr>
            <a:xfrm>
              <a:off x="4917119" y="5998225"/>
              <a:ext cx="1794197" cy="597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074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69" y="237998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Table of Contents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3E1351-5337-4670-B710-F8C34CC28C30}"/>
              </a:ext>
            </a:extLst>
          </p:cNvPr>
          <p:cNvSpPr txBox="1"/>
          <p:nvPr/>
        </p:nvSpPr>
        <p:spPr>
          <a:xfrm>
            <a:off x="288927" y="1027702"/>
            <a:ext cx="8578848" cy="4664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learning objectives – Forward Kinematics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Forward Kinematics needs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Direction of control practice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Stepper motor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Stepper motor action &amp; Angle input action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Gear ratio calculate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Current angle check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Forward Kinematics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Inverse Kinematics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1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 How</a:t>
            </a:r>
            <a:r>
              <a:rPr lang="ko-KR" altLang="en-US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to</a:t>
            </a:r>
            <a:r>
              <a:rPr lang="ko-KR" altLang="en-US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2219034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pPr lvl="1" defTabSz="914400" latinLnBrk="1">
              <a:lnSpc>
                <a:spcPct val="90000"/>
              </a:lnSpc>
              <a:spcBef>
                <a:spcPct val="0"/>
              </a:spcBef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learning objectives – Forward Kinematics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E86D97-B9CB-A804-C2C3-F11D7962D691}"/>
                  </a:ext>
                </a:extLst>
              </p:cNvPr>
              <p:cNvSpPr txBox="1"/>
              <p:nvPr/>
            </p:nvSpPr>
            <p:spPr>
              <a:xfrm>
                <a:off x="5497094" y="858586"/>
                <a:ext cx="3793061" cy="25204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𝐼𝑁𝑃𝑈𝑇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𝐴𝑁𝐺𝐿𝐸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𝑂𝑈𝑇𝑃𝑈𝑇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𝐶𝑂𝑂𝑅𝐷𝐼𝑁𝐴𝑇𝐸</m:t>
                      </m:r>
                    </m:oMath>
                  </m:oMathPara>
                </a14:m>
                <a:endParaRPr lang="ar-AE" altLang="ko-KR" sz="1600" dirty="0"/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ar-AE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ar-AE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E86D97-B9CB-A804-C2C3-F11D7962D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94" y="858586"/>
                <a:ext cx="3793061" cy="2520498"/>
              </a:xfrm>
              <a:prstGeom prst="rect">
                <a:avLst/>
              </a:prstGeom>
              <a:blipFill>
                <a:blip r:embed="rId2"/>
                <a:stretch>
                  <a:fillRect l="-1929" b="-14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그림 22">
            <a:extLst>
              <a:ext uri="{FF2B5EF4-FFF2-40B4-BE49-F238E27FC236}">
                <a16:creationId xmlns:a16="http://schemas.microsoft.com/office/drawing/2014/main" id="{7F301310-5511-5D45-760A-9FC0DF357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73195" y1="33021" x2="59091" y2="27874"/>
                        <a14:foregroundMark x1="61163" y1="25000" x2="64037" y2="25000"/>
                        <a14:foregroundMark x1="66979" y1="26337" x2="73730" y2="29746"/>
                        <a14:foregroundMark x1="43115" y1="53342" x2="43115" y2="53810"/>
                        <a14:foregroundMark x1="43115" y1="53810" x2="43115" y2="53810"/>
                        <a14:foregroundMark x1="42981" y1="53810" x2="42313" y2="53676"/>
                        <a14:foregroundMark x1="42714" y1="54612" x2="43917" y2="55548"/>
                        <a14:foregroundMark x1="43984" y1="55548" x2="45187" y2="56016"/>
                        <a14:foregroundMark x1="45521" y1="56217" x2="50201" y2="56818"/>
                        <a14:foregroundMark x1="52741" y1="56551" x2="55481" y2="56283"/>
                        <a14:backgroundMark x1="27406" y1="25401" x2="27406" y2="25401"/>
                        <a14:backgroundMark x1="12233" y1="22393" x2="12233" y2="22393"/>
                        <a14:backgroundMark x1="20922" y1="27874" x2="20922" y2="27874"/>
                        <a14:backgroundMark x1="21190" y1="39572" x2="21190" y2="39572"/>
                        <a14:backgroundMark x1="13703" y1="36364" x2="13703" y2="36364"/>
                        <a14:backgroundMark x1="17714" y1="45588" x2="17714" y2="45588"/>
                        <a14:backgroundMark x1="22193" y1="47527" x2="24866" y2="23930"/>
                        <a14:backgroundMark x1="14171" y1="24198" x2="16912" y2="51270"/>
                        <a14:backgroundMark x1="11230" y1="26872" x2="11430" y2="47527"/>
                        <a14:backgroundMark x1="24666" y1="42313" x2="19452" y2="81551"/>
                        <a14:backgroundMark x1="12834" y1="61765" x2="16711" y2="82888"/>
                        <a14:backgroundMark x1="12233" y1="76270" x2="11430" y2="78142"/>
                        <a14:backgroundMark x1="13302" y1="75334" x2="12099" y2="81551"/>
                        <a14:backgroundMark x1="11832" y1="72193" x2="19452" y2="78877"/>
                        <a14:backgroundMark x1="15842" y1="87366" x2="25134" y2="88102"/>
                        <a14:backgroundMark x1="16176" y1="85762" x2="14439" y2="87099"/>
                        <a14:backgroundMark x1="22259" y1="75334" x2="54880" y2="83757"/>
                        <a14:backgroundMark x1="30147" y1="67112" x2="56484" y2="72460"/>
                        <a14:backgroundMark x1="30749" y1="56016" x2="51738" y2="63837"/>
                        <a14:backgroundMark x1="31150" y1="60963" x2="34492" y2="65441"/>
                        <a14:backgroundMark x1="31350" y1="60227" x2="25000" y2="65842"/>
                        <a14:backgroundMark x1="29011" y1="50936" x2="28142" y2="54011"/>
                        <a14:backgroundMark x1="33088" y1="44920" x2="36965" y2="54679"/>
                        <a14:backgroundMark x1="38703" y1="53877" x2="52273" y2="60227"/>
                        <a14:backgroundMark x1="43583" y1="45922" x2="37567" y2="49666"/>
                        <a14:backgroundMark x1="51872" y1="57620" x2="69786" y2="62233"/>
                        <a14:backgroundMark x1="60094" y1="51136" x2="58088" y2="57888"/>
                        <a14:backgroundMark x1="60361" y1="61965" x2="60829" y2="76805"/>
                        <a14:backgroundMark x1="48730" y1="56952" x2="56083" y2="57152"/>
                        <a14:backgroundMark x1="56818" y1="52206" x2="55949" y2="49398"/>
                        <a14:backgroundMark x1="54345" y1="49799" x2="55348" y2="51404"/>
                        <a14:backgroundMark x1="54947" y1="53209" x2="54412" y2="51203"/>
                        <a14:backgroundMark x1="65107" y1="27340" x2="69920" y2="29746"/>
                        <a14:backgroundMark x1="54479" y1="30615" x2="50802" y2="35294"/>
                        <a14:backgroundMark x1="73061" y1="28008" x2="72193" y2="27406"/>
                        <a14:backgroundMark x1="71123" y1="26872" x2="73396" y2="28142"/>
                        <a14:backgroundMark x1="48663" y1="57219" x2="45588" y2="56818"/>
                        <a14:backgroundMark x1="52874" y1="56751" x2="55816" y2="56417"/>
                        <a14:backgroundMark x1="43917" y1="55615" x2="45521" y2="56283"/>
                        <a14:backgroundMark x1="45922" y1="56484" x2="48864" y2="56885"/>
                        <a14:backgroundMark x1="49866" y1="56885" x2="45856" y2="56350"/>
                        <a14:backgroundMark x1="50401" y1="56885" x2="49866" y2="56818"/>
                        <a14:backgroundMark x1="45388" y1="56283" x2="45922" y2="56350"/>
                      </a14:backgroundRemoval>
                    </a14:imgEffect>
                  </a14:imgLayer>
                </a14:imgProps>
              </a:ext>
            </a:extLst>
          </a:blip>
          <a:srcRect l="42006" t="23014" r="21304" b="42621"/>
          <a:stretch/>
        </p:blipFill>
        <p:spPr>
          <a:xfrm rot="21255573">
            <a:off x="-224009" y="919246"/>
            <a:ext cx="5832819" cy="5463108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6D23734-9DF4-E4A6-9775-96D09ACA5BE2}"/>
              </a:ext>
            </a:extLst>
          </p:cNvPr>
          <p:cNvCxnSpPr>
            <a:cxnSpLocks/>
          </p:cNvCxnSpPr>
          <p:nvPr/>
        </p:nvCxnSpPr>
        <p:spPr>
          <a:xfrm flipH="1">
            <a:off x="4652843" y="2256032"/>
            <a:ext cx="668392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389BC97-7D43-0567-92A5-178FC11F3AB7}"/>
                  </a:ext>
                </a:extLst>
              </p:cNvPr>
              <p:cNvSpPr txBox="1"/>
              <p:nvPr/>
            </p:nvSpPr>
            <p:spPr>
              <a:xfrm>
                <a:off x="1149491" y="3032978"/>
                <a:ext cx="2450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389BC97-7D43-0567-92A5-178FC11F3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491" y="3032978"/>
                <a:ext cx="245067" cy="246221"/>
              </a:xfrm>
              <a:prstGeom prst="rect">
                <a:avLst/>
              </a:prstGeom>
              <a:blipFill>
                <a:blip r:embed="rId5"/>
                <a:stretch>
                  <a:fillRect l="-20000" r="-750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6C3D187-D19A-AAB2-55B5-E218ECAA9336}"/>
                  </a:ext>
                </a:extLst>
              </p:cNvPr>
              <p:cNvSpPr txBox="1"/>
              <p:nvPr/>
            </p:nvSpPr>
            <p:spPr>
              <a:xfrm>
                <a:off x="1803886" y="2682445"/>
                <a:ext cx="27148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6C3D187-D19A-AAB2-55B5-E218ECAA9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886" y="2682445"/>
                <a:ext cx="271484" cy="246221"/>
              </a:xfrm>
              <a:prstGeom prst="rect">
                <a:avLst/>
              </a:prstGeom>
              <a:blipFill>
                <a:blip r:embed="rId6"/>
                <a:stretch>
                  <a:fillRect l="-13636" r="-2273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CE76BED-E12F-DB18-DF54-6140FD15A4E4}"/>
                  </a:ext>
                </a:extLst>
              </p:cNvPr>
              <p:cNvSpPr txBox="1"/>
              <p:nvPr/>
            </p:nvSpPr>
            <p:spPr>
              <a:xfrm>
                <a:off x="2301123" y="1844137"/>
                <a:ext cx="588751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CE76BED-E12F-DB18-DF54-6140FD15A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123" y="1844137"/>
                <a:ext cx="588751" cy="265650"/>
              </a:xfrm>
              <a:prstGeom prst="rect">
                <a:avLst/>
              </a:prstGeom>
              <a:blipFill>
                <a:blip r:embed="rId7"/>
                <a:stretch>
                  <a:fillRect l="-5155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F254C8-4A67-2DA0-BFF2-E544CFF8B548}"/>
                  </a:ext>
                </a:extLst>
              </p:cNvPr>
              <p:cNvSpPr txBox="1"/>
              <p:nvPr/>
            </p:nvSpPr>
            <p:spPr>
              <a:xfrm>
                <a:off x="3103624" y="1655823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F254C8-4A67-2DA0-BFF2-E544CFF8B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624" y="1655823"/>
                <a:ext cx="249812" cy="246221"/>
              </a:xfrm>
              <a:prstGeom prst="rect">
                <a:avLst/>
              </a:prstGeom>
              <a:blipFill>
                <a:blip r:embed="rId8"/>
                <a:stretch>
                  <a:fillRect l="-19512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A4A178-BEB4-B9D8-7082-512B237CEE52}"/>
                  </a:ext>
                </a:extLst>
              </p:cNvPr>
              <p:cNvSpPr txBox="1"/>
              <p:nvPr/>
            </p:nvSpPr>
            <p:spPr>
              <a:xfrm>
                <a:off x="3418420" y="2036421"/>
                <a:ext cx="2762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A4A178-BEB4-B9D8-7082-512B237CE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420" y="2036421"/>
                <a:ext cx="276229" cy="246221"/>
              </a:xfrm>
              <a:prstGeom prst="rect">
                <a:avLst/>
              </a:prstGeom>
              <a:blipFill>
                <a:blip r:embed="rId9"/>
                <a:stretch>
                  <a:fillRect l="-13333" r="-2222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25AF5D1-A4B2-B742-A185-00D68DCA6FEF}"/>
                  </a:ext>
                </a:extLst>
              </p:cNvPr>
              <p:cNvSpPr txBox="1"/>
              <p:nvPr/>
            </p:nvSpPr>
            <p:spPr>
              <a:xfrm>
                <a:off x="4811135" y="1973501"/>
                <a:ext cx="349583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25AF5D1-A4B2-B742-A185-00D68DCA6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135" y="1973501"/>
                <a:ext cx="349583" cy="246221"/>
              </a:xfrm>
              <a:prstGeom prst="rect">
                <a:avLst/>
              </a:prstGeom>
              <a:blipFill>
                <a:blip r:embed="rId10"/>
                <a:stretch>
                  <a:fillRect l="-10345" r="-5172" b="-7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8147D8E-0D6F-0281-5E5D-82117AB2A76E}"/>
                  </a:ext>
                </a:extLst>
              </p:cNvPr>
              <p:cNvSpPr txBox="1"/>
              <p:nvPr/>
            </p:nvSpPr>
            <p:spPr>
              <a:xfrm>
                <a:off x="3880165" y="2622125"/>
                <a:ext cx="615168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8147D8E-0D6F-0281-5E5D-82117AB2A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165" y="2622125"/>
                <a:ext cx="615168" cy="265650"/>
              </a:xfrm>
              <a:prstGeom prst="rect">
                <a:avLst/>
              </a:prstGeom>
              <a:blipFill>
                <a:blip r:embed="rId11"/>
                <a:stretch>
                  <a:fillRect l="-6000" r="-1000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B0EF19-C670-CB1C-3737-95ADD91CD7F5}"/>
                  </a:ext>
                </a:extLst>
              </p:cNvPr>
              <p:cNvSpPr txBox="1"/>
              <p:nvPr/>
            </p:nvSpPr>
            <p:spPr>
              <a:xfrm>
                <a:off x="4620320" y="2622125"/>
                <a:ext cx="589905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B0EF19-C670-CB1C-3737-95ADD91CD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320" y="2622125"/>
                <a:ext cx="589905" cy="265650"/>
              </a:xfrm>
              <a:prstGeom prst="rect">
                <a:avLst/>
              </a:prstGeom>
              <a:blipFill>
                <a:blip r:embed="rId12"/>
                <a:stretch>
                  <a:fillRect l="-6186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원호 33">
            <a:extLst>
              <a:ext uri="{FF2B5EF4-FFF2-40B4-BE49-F238E27FC236}">
                <a16:creationId xmlns:a16="http://schemas.microsoft.com/office/drawing/2014/main" id="{7C084F57-3CB5-954D-F0C9-8F77820DA83E}"/>
              </a:ext>
            </a:extLst>
          </p:cNvPr>
          <p:cNvSpPr/>
          <p:nvPr/>
        </p:nvSpPr>
        <p:spPr>
          <a:xfrm>
            <a:off x="1948726" y="1224650"/>
            <a:ext cx="900000" cy="900000"/>
          </a:xfrm>
          <a:prstGeom prst="arc">
            <a:avLst>
              <a:gd name="adj1" fmla="val 21571423"/>
              <a:gd name="adj2" fmla="val 847302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1D467BA-3B95-18E0-3239-214DC9B383F7}"/>
              </a:ext>
            </a:extLst>
          </p:cNvPr>
          <p:cNvCxnSpPr>
            <a:cxnSpLocks/>
          </p:cNvCxnSpPr>
          <p:nvPr/>
        </p:nvCxnSpPr>
        <p:spPr>
          <a:xfrm>
            <a:off x="451154" y="3758558"/>
            <a:ext cx="4479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원호 35">
            <a:extLst>
              <a:ext uri="{FF2B5EF4-FFF2-40B4-BE49-F238E27FC236}">
                <a16:creationId xmlns:a16="http://schemas.microsoft.com/office/drawing/2014/main" id="{00AB3CDB-0195-E846-40FC-7D164565C30F}"/>
              </a:ext>
            </a:extLst>
          </p:cNvPr>
          <p:cNvSpPr/>
          <p:nvPr/>
        </p:nvSpPr>
        <p:spPr>
          <a:xfrm>
            <a:off x="669847" y="3307723"/>
            <a:ext cx="900000" cy="900000"/>
          </a:xfrm>
          <a:prstGeom prst="arc">
            <a:avLst>
              <a:gd name="adj1" fmla="val 16248765"/>
              <a:gd name="adj2" fmla="val 18152791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2466A8B-1976-1843-8B94-AFCD036C3E46}"/>
              </a:ext>
            </a:extLst>
          </p:cNvPr>
          <p:cNvCxnSpPr>
            <a:cxnSpLocks/>
          </p:cNvCxnSpPr>
          <p:nvPr/>
        </p:nvCxnSpPr>
        <p:spPr>
          <a:xfrm flipH="1" flipV="1">
            <a:off x="375239" y="3538486"/>
            <a:ext cx="741957" cy="20645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7B97428-0D4A-E9AB-D125-0487AB909029}"/>
              </a:ext>
            </a:extLst>
          </p:cNvPr>
          <p:cNvCxnSpPr>
            <a:cxnSpLocks/>
          </p:cNvCxnSpPr>
          <p:nvPr/>
        </p:nvCxnSpPr>
        <p:spPr>
          <a:xfrm>
            <a:off x="1146820" y="1671166"/>
            <a:ext cx="36009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2277B2F-064E-4E1C-1D0E-76A8E78317A9}"/>
              </a:ext>
            </a:extLst>
          </p:cNvPr>
          <p:cNvCxnSpPr>
            <a:cxnSpLocks/>
          </p:cNvCxnSpPr>
          <p:nvPr/>
        </p:nvCxnSpPr>
        <p:spPr>
          <a:xfrm flipH="1" flipV="1">
            <a:off x="1604748" y="1470076"/>
            <a:ext cx="3097372" cy="78595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5114ABB-A07F-4CB0-719B-FB33FF1DE913}"/>
              </a:ext>
            </a:extLst>
          </p:cNvPr>
          <p:cNvSpPr/>
          <p:nvPr/>
        </p:nvSpPr>
        <p:spPr>
          <a:xfrm>
            <a:off x="5470677" y="2813573"/>
            <a:ext cx="2421246" cy="6358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5AF704F-1CAB-8E3B-FB2A-087B9D9F9E88}"/>
              </a:ext>
            </a:extLst>
          </p:cNvPr>
          <p:cNvCxnSpPr>
            <a:cxnSpLocks/>
          </p:cNvCxnSpPr>
          <p:nvPr/>
        </p:nvCxnSpPr>
        <p:spPr>
          <a:xfrm flipH="1" flipV="1">
            <a:off x="1117196" y="1037662"/>
            <a:ext cx="4598" cy="34572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AC662E9-3310-281E-AF3F-618E761670BF}"/>
              </a:ext>
            </a:extLst>
          </p:cNvPr>
          <p:cNvCxnSpPr>
            <a:cxnSpLocks/>
            <a:endCxn id="47" idx="7"/>
          </p:cNvCxnSpPr>
          <p:nvPr/>
        </p:nvCxnSpPr>
        <p:spPr>
          <a:xfrm flipV="1">
            <a:off x="1127155" y="1620640"/>
            <a:ext cx="1313155" cy="213221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E6B9D88D-6876-3650-F2EE-EF3CCDBF78E4}"/>
              </a:ext>
            </a:extLst>
          </p:cNvPr>
          <p:cNvSpPr/>
          <p:nvPr/>
        </p:nvSpPr>
        <p:spPr>
          <a:xfrm>
            <a:off x="1064511" y="3700357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F5261F3-3BE5-E2D6-457D-C569DC881DA6}"/>
              </a:ext>
            </a:extLst>
          </p:cNvPr>
          <p:cNvCxnSpPr>
            <a:cxnSpLocks/>
          </p:cNvCxnSpPr>
          <p:nvPr/>
        </p:nvCxnSpPr>
        <p:spPr>
          <a:xfrm flipV="1">
            <a:off x="382395" y="1435205"/>
            <a:ext cx="1264391" cy="210622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타원 44">
            <a:extLst>
              <a:ext uri="{FF2B5EF4-FFF2-40B4-BE49-F238E27FC236}">
                <a16:creationId xmlns:a16="http://schemas.microsoft.com/office/drawing/2014/main" id="{67E79E84-605E-60A5-2797-7AB1E8453AD2}"/>
              </a:ext>
            </a:extLst>
          </p:cNvPr>
          <p:cNvSpPr/>
          <p:nvPr/>
        </p:nvSpPr>
        <p:spPr>
          <a:xfrm>
            <a:off x="336810" y="348393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D14BB6A-A696-B8A7-C067-6D60691F628C}"/>
              </a:ext>
            </a:extLst>
          </p:cNvPr>
          <p:cNvSpPr/>
          <p:nvPr/>
        </p:nvSpPr>
        <p:spPr>
          <a:xfrm>
            <a:off x="1572935" y="1409025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4E3EE9B-F29A-B568-CEF1-69249DED5F7A}"/>
              </a:ext>
            </a:extLst>
          </p:cNvPr>
          <p:cNvSpPr/>
          <p:nvPr/>
        </p:nvSpPr>
        <p:spPr>
          <a:xfrm>
            <a:off x="2346812" y="160442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2EB6EB2-DB61-881A-A071-97072BACE614}"/>
              </a:ext>
            </a:extLst>
          </p:cNvPr>
          <p:cNvCxnSpPr>
            <a:cxnSpLocks/>
          </p:cNvCxnSpPr>
          <p:nvPr/>
        </p:nvCxnSpPr>
        <p:spPr>
          <a:xfrm flipV="1">
            <a:off x="4484202" y="2263959"/>
            <a:ext cx="197922" cy="36677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207CA29-BE65-5AAA-974C-954E1A2CD92B}"/>
              </a:ext>
            </a:extLst>
          </p:cNvPr>
          <p:cNvCxnSpPr>
            <a:cxnSpLocks/>
          </p:cNvCxnSpPr>
          <p:nvPr/>
        </p:nvCxnSpPr>
        <p:spPr>
          <a:xfrm flipV="1">
            <a:off x="5137290" y="2263959"/>
            <a:ext cx="197922" cy="36677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9532F8CB-2F7F-EF7B-A0B5-EA90AD89F237}"/>
              </a:ext>
            </a:extLst>
          </p:cNvPr>
          <p:cNvSpPr/>
          <p:nvPr/>
        </p:nvSpPr>
        <p:spPr>
          <a:xfrm>
            <a:off x="5277281" y="2202042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8A2C8FE7-F83B-1EF5-7C30-07172FFCEB6D}"/>
              </a:ext>
            </a:extLst>
          </p:cNvPr>
          <p:cNvSpPr/>
          <p:nvPr/>
        </p:nvSpPr>
        <p:spPr>
          <a:xfrm>
            <a:off x="4641495" y="2193850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F92B47E-6D78-B5E7-AF2B-114666B70244}"/>
              </a:ext>
            </a:extLst>
          </p:cNvPr>
          <p:cNvCxnSpPr>
            <a:cxnSpLocks/>
          </p:cNvCxnSpPr>
          <p:nvPr/>
        </p:nvCxnSpPr>
        <p:spPr>
          <a:xfrm>
            <a:off x="3480334" y="1672794"/>
            <a:ext cx="0" cy="26917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307BBA7F-E94C-C9BD-F1E2-B4C716D5F2EC}"/>
              </a:ext>
            </a:extLst>
          </p:cNvPr>
          <p:cNvCxnSpPr>
            <a:cxnSpLocks/>
          </p:cNvCxnSpPr>
          <p:nvPr/>
        </p:nvCxnSpPr>
        <p:spPr>
          <a:xfrm>
            <a:off x="1131208" y="3032978"/>
            <a:ext cx="4213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원호 56">
            <a:extLst>
              <a:ext uri="{FF2B5EF4-FFF2-40B4-BE49-F238E27FC236}">
                <a16:creationId xmlns:a16="http://schemas.microsoft.com/office/drawing/2014/main" id="{30CFFE42-19BE-4FA9-CB55-A84C3C975146}"/>
              </a:ext>
            </a:extLst>
          </p:cNvPr>
          <p:cNvSpPr/>
          <p:nvPr/>
        </p:nvSpPr>
        <p:spPr>
          <a:xfrm>
            <a:off x="672227" y="3307722"/>
            <a:ext cx="900000" cy="900000"/>
          </a:xfrm>
          <a:prstGeom prst="arc">
            <a:avLst>
              <a:gd name="adj1" fmla="val 18144896"/>
              <a:gd name="adj2" fmla="val 21558778"/>
            </a:avLst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214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pPr lvl="1" latinLnBrk="1">
              <a:lnSpc>
                <a:spcPct val="90000"/>
              </a:lnSpc>
              <a:spcBef>
                <a:spcPct val="0"/>
              </a:spcBef>
              <a:tabLst>
                <a:tab pos="406004" algn="l"/>
              </a:tabLst>
            </a:pP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Forward Kinematics needs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E8EDA3-2ADE-8CD8-6BA4-5B701B3BDC85}"/>
                  </a:ext>
                </a:extLst>
              </p:cNvPr>
              <p:cNvSpPr txBox="1"/>
              <p:nvPr/>
            </p:nvSpPr>
            <p:spPr>
              <a:xfrm>
                <a:off x="5497094" y="858586"/>
                <a:ext cx="3793061" cy="25204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𝐼𝑁𝑃𝑈𝑇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𝐴𝑁𝐺𝐿𝐸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𝑂𝑈𝑇𝑃𝑈𝑇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𝐶𝑂𝑂𝑅𝐷𝐼𝑁𝐴𝑇𝐸</m:t>
                      </m:r>
                    </m:oMath>
                  </m:oMathPara>
                </a14:m>
                <a:endParaRPr lang="ar-AE" altLang="ko-KR" sz="1600" dirty="0"/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ar-AE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ar-AE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E8EDA3-2ADE-8CD8-6BA4-5B701B3BD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94" y="858586"/>
                <a:ext cx="3793061" cy="2520498"/>
              </a:xfrm>
              <a:prstGeom prst="rect">
                <a:avLst/>
              </a:prstGeom>
              <a:blipFill>
                <a:blip r:embed="rId2"/>
                <a:stretch>
                  <a:fillRect l="-1929" b="-14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그림 25">
            <a:extLst>
              <a:ext uri="{FF2B5EF4-FFF2-40B4-BE49-F238E27FC236}">
                <a16:creationId xmlns:a16="http://schemas.microsoft.com/office/drawing/2014/main" id="{59635451-6259-E370-FA5C-952239E7E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73195" y1="33021" x2="59091" y2="27874"/>
                        <a14:foregroundMark x1="61163" y1="25000" x2="64037" y2="25000"/>
                        <a14:foregroundMark x1="66979" y1="26337" x2="73730" y2="29746"/>
                        <a14:foregroundMark x1="43115" y1="53342" x2="43115" y2="53810"/>
                        <a14:foregroundMark x1="43115" y1="53810" x2="43115" y2="53810"/>
                        <a14:foregroundMark x1="42981" y1="53810" x2="42313" y2="53676"/>
                        <a14:foregroundMark x1="42714" y1="54612" x2="43917" y2="55548"/>
                        <a14:foregroundMark x1="43984" y1="55548" x2="45187" y2="56016"/>
                        <a14:foregroundMark x1="45521" y1="56217" x2="50201" y2="56818"/>
                        <a14:foregroundMark x1="52741" y1="56551" x2="55481" y2="56283"/>
                        <a14:backgroundMark x1="27406" y1="25401" x2="27406" y2="25401"/>
                        <a14:backgroundMark x1="12233" y1="22393" x2="12233" y2="22393"/>
                        <a14:backgroundMark x1="20922" y1="27874" x2="20922" y2="27874"/>
                        <a14:backgroundMark x1="21190" y1="39572" x2="21190" y2="39572"/>
                        <a14:backgroundMark x1="13703" y1="36364" x2="13703" y2="36364"/>
                        <a14:backgroundMark x1="17714" y1="45588" x2="17714" y2="45588"/>
                        <a14:backgroundMark x1="22193" y1="47527" x2="24866" y2="23930"/>
                        <a14:backgroundMark x1="14171" y1="24198" x2="16912" y2="51270"/>
                        <a14:backgroundMark x1="11230" y1="26872" x2="11430" y2="47527"/>
                        <a14:backgroundMark x1="24666" y1="42313" x2="19452" y2="81551"/>
                        <a14:backgroundMark x1="12834" y1="61765" x2="16711" y2="82888"/>
                        <a14:backgroundMark x1="12233" y1="76270" x2="11430" y2="78142"/>
                        <a14:backgroundMark x1="13302" y1="75334" x2="12099" y2="81551"/>
                        <a14:backgroundMark x1="11832" y1="72193" x2="19452" y2="78877"/>
                        <a14:backgroundMark x1="15842" y1="87366" x2="25134" y2="88102"/>
                        <a14:backgroundMark x1="16176" y1="85762" x2="14439" y2="87099"/>
                        <a14:backgroundMark x1="22259" y1="75334" x2="54880" y2="83757"/>
                        <a14:backgroundMark x1="30147" y1="67112" x2="56484" y2="72460"/>
                        <a14:backgroundMark x1="30749" y1="56016" x2="51738" y2="63837"/>
                        <a14:backgroundMark x1="31150" y1="60963" x2="34492" y2="65441"/>
                        <a14:backgroundMark x1="31350" y1="60227" x2="25000" y2="65842"/>
                        <a14:backgroundMark x1="29011" y1="50936" x2="28142" y2="54011"/>
                        <a14:backgroundMark x1="33088" y1="44920" x2="36965" y2="54679"/>
                        <a14:backgroundMark x1="38703" y1="53877" x2="52273" y2="60227"/>
                        <a14:backgroundMark x1="43583" y1="45922" x2="37567" y2="49666"/>
                        <a14:backgroundMark x1="51872" y1="57620" x2="69786" y2="62233"/>
                        <a14:backgroundMark x1="60094" y1="51136" x2="58088" y2="57888"/>
                        <a14:backgroundMark x1="60361" y1="61965" x2="60829" y2="76805"/>
                        <a14:backgroundMark x1="48730" y1="56952" x2="56083" y2="57152"/>
                        <a14:backgroundMark x1="56818" y1="52206" x2="55949" y2="49398"/>
                        <a14:backgroundMark x1="54345" y1="49799" x2="55348" y2="51404"/>
                        <a14:backgroundMark x1="54947" y1="53209" x2="54412" y2="51203"/>
                        <a14:backgroundMark x1="65107" y1="27340" x2="69920" y2="29746"/>
                        <a14:backgroundMark x1="54479" y1="30615" x2="50802" y2="35294"/>
                        <a14:backgroundMark x1="73061" y1="28008" x2="72193" y2="27406"/>
                        <a14:backgroundMark x1="71123" y1="26872" x2="73396" y2="28142"/>
                        <a14:backgroundMark x1="48663" y1="57219" x2="45588" y2="56818"/>
                        <a14:backgroundMark x1="52874" y1="56751" x2="55816" y2="56417"/>
                        <a14:backgroundMark x1="43917" y1="55615" x2="45521" y2="56283"/>
                        <a14:backgroundMark x1="45922" y1="56484" x2="48864" y2="56885"/>
                        <a14:backgroundMark x1="49866" y1="56885" x2="45856" y2="56350"/>
                        <a14:backgroundMark x1="50401" y1="56885" x2="49866" y2="56818"/>
                        <a14:backgroundMark x1="45388" y1="56283" x2="45922" y2="56350"/>
                      </a14:backgroundRemoval>
                    </a14:imgEffect>
                  </a14:imgLayer>
                </a14:imgProps>
              </a:ext>
            </a:extLst>
          </a:blip>
          <a:srcRect l="42006" t="23014" r="21304" b="42621"/>
          <a:stretch/>
        </p:blipFill>
        <p:spPr>
          <a:xfrm rot="21255573">
            <a:off x="-224009" y="919246"/>
            <a:ext cx="5832819" cy="5463108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DA04895-2E5D-2E90-5E69-2104B58C3410}"/>
              </a:ext>
            </a:extLst>
          </p:cNvPr>
          <p:cNvCxnSpPr>
            <a:cxnSpLocks/>
          </p:cNvCxnSpPr>
          <p:nvPr/>
        </p:nvCxnSpPr>
        <p:spPr>
          <a:xfrm flipH="1">
            <a:off x="4652843" y="2256032"/>
            <a:ext cx="668392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702439-3A09-F4B5-C0C9-77EBB1F343E4}"/>
                  </a:ext>
                </a:extLst>
              </p:cNvPr>
              <p:cNvSpPr txBox="1"/>
              <p:nvPr/>
            </p:nvSpPr>
            <p:spPr>
              <a:xfrm>
                <a:off x="1149491" y="3032978"/>
                <a:ext cx="2450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702439-3A09-F4B5-C0C9-77EBB1F34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491" y="3032978"/>
                <a:ext cx="245067" cy="246221"/>
              </a:xfrm>
              <a:prstGeom prst="rect">
                <a:avLst/>
              </a:prstGeom>
              <a:blipFill>
                <a:blip r:embed="rId5"/>
                <a:stretch>
                  <a:fillRect l="-20000" r="-750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A0A288A-7D75-4F1C-3923-95BCBE2A9133}"/>
                  </a:ext>
                </a:extLst>
              </p:cNvPr>
              <p:cNvSpPr txBox="1"/>
              <p:nvPr/>
            </p:nvSpPr>
            <p:spPr>
              <a:xfrm>
                <a:off x="1803886" y="2682445"/>
                <a:ext cx="27148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A0A288A-7D75-4F1C-3923-95BCBE2A9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886" y="2682445"/>
                <a:ext cx="271484" cy="246221"/>
              </a:xfrm>
              <a:prstGeom prst="rect">
                <a:avLst/>
              </a:prstGeom>
              <a:blipFill>
                <a:blip r:embed="rId6"/>
                <a:stretch>
                  <a:fillRect l="-13636" r="-2273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0894142-7FEB-9DFD-492F-D3E71F0D3B27}"/>
                  </a:ext>
                </a:extLst>
              </p:cNvPr>
              <p:cNvSpPr txBox="1"/>
              <p:nvPr/>
            </p:nvSpPr>
            <p:spPr>
              <a:xfrm>
                <a:off x="2301123" y="1844137"/>
                <a:ext cx="588751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0894142-7FEB-9DFD-492F-D3E71F0D3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123" y="1844137"/>
                <a:ext cx="588751" cy="265650"/>
              </a:xfrm>
              <a:prstGeom prst="rect">
                <a:avLst/>
              </a:prstGeom>
              <a:blipFill>
                <a:blip r:embed="rId7"/>
                <a:stretch>
                  <a:fillRect l="-5155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E4E478F-9675-2D5C-A002-B3C91CB368B0}"/>
                  </a:ext>
                </a:extLst>
              </p:cNvPr>
              <p:cNvSpPr txBox="1"/>
              <p:nvPr/>
            </p:nvSpPr>
            <p:spPr>
              <a:xfrm>
                <a:off x="3103624" y="1655823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E4E478F-9675-2D5C-A002-B3C91CB36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624" y="1655823"/>
                <a:ext cx="249812" cy="246221"/>
              </a:xfrm>
              <a:prstGeom prst="rect">
                <a:avLst/>
              </a:prstGeom>
              <a:blipFill>
                <a:blip r:embed="rId8"/>
                <a:stretch>
                  <a:fillRect l="-19512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75C59C9-FE52-1139-8761-C18401E94A07}"/>
                  </a:ext>
                </a:extLst>
              </p:cNvPr>
              <p:cNvSpPr txBox="1"/>
              <p:nvPr/>
            </p:nvSpPr>
            <p:spPr>
              <a:xfrm>
                <a:off x="3418420" y="2036421"/>
                <a:ext cx="2762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75C59C9-FE52-1139-8761-C18401E94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420" y="2036421"/>
                <a:ext cx="276229" cy="246221"/>
              </a:xfrm>
              <a:prstGeom prst="rect">
                <a:avLst/>
              </a:prstGeom>
              <a:blipFill>
                <a:blip r:embed="rId9"/>
                <a:stretch>
                  <a:fillRect l="-13333" r="-2222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54E7B2D-BAD6-901F-E8A3-745365285AFB}"/>
                  </a:ext>
                </a:extLst>
              </p:cNvPr>
              <p:cNvSpPr txBox="1"/>
              <p:nvPr/>
            </p:nvSpPr>
            <p:spPr>
              <a:xfrm>
                <a:off x="4811135" y="1973501"/>
                <a:ext cx="349583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54E7B2D-BAD6-901F-E8A3-745365285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135" y="1973501"/>
                <a:ext cx="349583" cy="246221"/>
              </a:xfrm>
              <a:prstGeom prst="rect">
                <a:avLst/>
              </a:prstGeom>
              <a:blipFill>
                <a:blip r:embed="rId10"/>
                <a:stretch>
                  <a:fillRect l="-10345" r="-5172" b="-7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C02BD5D-68C5-1F15-7D5D-EF24DA488C81}"/>
                  </a:ext>
                </a:extLst>
              </p:cNvPr>
              <p:cNvSpPr txBox="1"/>
              <p:nvPr/>
            </p:nvSpPr>
            <p:spPr>
              <a:xfrm>
                <a:off x="3880165" y="2622125"/>
                <a:ext cx="615168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C02BD5D-68C5-1F15-7D5D-EF24DA488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165" y="2622125"/>
                <a:ext cx="615168" cy="265650"/>
              </a:xfrm>
              <a:prstGeom prst="rect">
                <a:avLst/>
              </a:prstGeom>
              <a:blipFill>
                <a:blip r:embed="rId11"/>
                <a:stretch>
                  <a:fillRect l="-6000" r="-1000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807F7D6-2BF8-AEC6-EF0C-740C52D3807B}"/>
                  </a:ext>
                </a:extLst>
              </p:cNvPr>
              <p:cNvSpPr txBox="1"/>
              <p:nvPr/>
            </p:nvSpPr>
            <p:spPr>
              <a:xfrm>
                <a:off x="4620320" y="2622125"/>
                <a:ext cx="589905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807F7D6-2BF8-AEC6-EF0C-740C52D38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320" y="2622125"/>
                <a:ext cx="589905" cy="265650"/>
              </a:xfrm>
              <a:prstGeom prst="rect">
                <a:avLst/>
              </a:prstGeom>
              <a:blipFill>
                <a:blip r:embed="rId12"/>
                <a:stretch>
                  <a:fillRect l="-6186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원호 35">
            <a:extLst>
              <a:ext uri="{FF2B5EF4-FFF2-40B4-BE49-F238E27FC236}">
                <a16:creationId xmlns:a16="http://schemas.microsoft.com/office/drawing/2014/main" id="{2813F1A5-83B2-4184-0714-85978C35903E}"/>
              </a:ext>
            </a:extLst>
          </p:cNvPr>
          <p:cNvSpPr/>
          <p:nvPr/>
        </p:nvSpPr>
        <p:spPr>
          <a:xfrm>
            <a:off x="1948726" y="1224650"/>
            <a:ext cx="900000" cy="900000"/>
          </a:xfrm>
          <a:prstGeom prst="arc">
            <a:avLst>
              <a:gd name="adj1" fmla="val 21571423"/>
              <a:gd name="adj2" fmla="val 847302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65E3665-B989-D3A6-01EA-C882503F3564}"/>
              </a:ext>
            </a:extLst>
          </p:cNvPr>
          <p:cNvCxnSpPr>
            <a:cxnSpLocks/>
          </p:cNvCxnSpPr>
          <p:nvPr/>
        </p:nvCxnSpPr>
        <p:spPr>
          <a:xfrm>
            <a:off x="451154" y="3758558"/>
            <a:ext cx="4479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원호 37">
            <a:extLst>
              <a:ext uri="{FF2B5EF4-FFF2-40B4-BE49-F238E27FC236}">
                <a16:creationId xmlns:a16="http://schemas.microsoft.com/office/drawing/2014/main" id="{F2456752-BC83-5384-142D-5CC42306F0DD}"/>
              </a:ext>
            </a:extLst>
          </p:cNvPr>
          <p:cNvSpPr/>
          <p:nvPr/>
        </p:nvSpPr>
        <p:spPr>
          <a:xfrm>
            <a:off x="669847" y="3307723"/>
            <a:ext cx="900000" cy="900000"/>
          </a:xfrm>
          <a:prstGeom prst="arc">
            <a:avLst>
              <a:gd name="adj1" fmla="val 16248765"/>
              <a:gd name="adj2" fmla="val 18152791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BDCCDA31-A090-F72F-4352-17DD75CB2E76}"/>
              </a:ext>
            </a:extLst>
          </p:cNvPr>
          <p:cNvCxnSpPr>
            <a:cxnSpLocks/>
          </p:cNvCxnSpPr>
          <p:nvPr/>
        </p:nvCxnSpPr>
        <p:spPr>
          <a:xfrm flipH="1" flipV="1">
            <a:off x="375239" y="3538486"/>
            <a:ext cx="741957" cy="20645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4F7C1F3-5457-3F1D-605C-6556E994F8F3}"/>
              </a:ext>
            </a:extLst>
          </p:cNvPr>
          <p:cNvCxnSpPr>
            <a:cxnSpLocks/>
          </p:cNvCxnSpPr>
          <p:nvPr/>
        </p:nvCxnSpPr>
        <p:spPr>
          <a:xfrm>
            <a:off x="1146820" y="1671166"/>
            <a:ext cx="36009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C4A59E9-4295-B342-9BEA-B424AB2B657D}"/>
              </a:ext>
            </a:extLst>
          </p:cNvPr>
          <p:cNvCxnSpPr>
            <a:cxnSpLocks/>
          </p:cNvCxnSpPr>
          <p:nvPr/>
        </p:nvCxnSpPr>
        <p:spPr>
          <a:xfrm flipH="1" flipV="1">
            <a:off x="1604748" y="1470076"/>
            <a:ext cx="3097372" cy="78595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E76C05E-D180-5F60-F93A-C240593ABCD3}"/>
              </a:ext>
            </a:extLst>
          </p:cNvPr>
          <p:cNvSpPr/>
          <p:nvPr/>
        </p:nvSpPr>
        <p:spPr>
          <a:xfrm>
            <a:off x="5470677" y="2813573"/>
            <a:ext cx="2421246" cy="6358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24B16AC-7CA3-3BF5-4FC7-AB1CD4254D71}"/>
              </a:ext>
            </a:extLst>
          </p:cNvPr>
          <p:cNvCxnSpPr>
            <a:cxnSpLocks/>
          </p:cNvCxnSpPr>
          <p:nvPr/>
        </p:nvCxnSpPr>
        <p:spPr>
          <a:xfrm flipH="1" flipV="1">
            <a:off x="1117196" y="1037662"/>
            <a:ext cx="4598" cy="34572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695E101-DA2B-A643-A3BC-04049E96EEF6}"/>
              </a:ext>
            </a:extLst>
          </p:cNvPr>
          <p:cNvCxnSpPr>
            <a:cxnSpLocks/>
            <a:endCxn id="49" idx="7"/>
          </p:cNvCxnSpPr>
          <p:nvPr/>
        </p:nvCxnSpPr>
        <p:spPr>
          <a:xfrm flipV="1">
            <a:off x="1127155" y="1620640"/>
            <a:ext cx="1313155" cy="213221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타원 44">
            <a:extLst>
              <a:ext uri="{FF2B5EF4-FFF2-40B4-BE49-F238E27FC236}">
                <a16:creationId xmlns:a16="http://schemas.microsoft.com/office/drawing/2014/main" id="{D250ECAD-E76A-9AD6-A61A-7157DE3AC6F5}"/>
              </a:ext>
            </a:extLst>
          </p:cNvPr>
          <p:cNvSpPr/>
          <p:nvPr/>
        </p:nvSpPr>
        <p:spPr>
          <a:xfrm>
            <a:off x="1064511" y="3700357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DE6DE77-1D5C-D7D7-18D5-C1DDD388DCAB}"/>
              </a:ext>
            </a:extLst>
          </p:cNvPr>
          <p:cNvCxnSpPr>
            <a:cxnSpLocks/>
          </p:cNvCxnSpPr>
          <p:nvPr/>
        </p:nvCxnSpPr>
        <p:spPr>
          <a:xfrm flipV="1">
            <a:off x="382395" y="1435205"/>
            <a:ext cx="1264391" cy="210622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:a16="http://schemas.microsoft.com/office/drawing/2014/main" id="{2982A1E6-DD67-1C71-5A1C-FC8A588FE5E2}"/>
              </a:ext>
            </a:extLst>
          </p:cNvPr>
          <p:cNvSpPr/>
          <p:nvPr/>
        </p:nvSpPr>
        <p:spPr>
          <a:xfrm>
            <a:off x="336810" y="348393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E31A1712-2F68-467D-E027-0435AE9B2DD0}"/>
              </a:ext>
            </a:extLst>
          </p:cNvPr>
          <p:cNvSpPr/>
          <p:nvPr/>
        </p:nvSpPr>
        <p:spPr>
          <a:xfrm>
            <a:off x="1572935" y="1409025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F894B235-6552-0CB4-7B6F-703747672463}"/>
              </a:ext>
            </a:extLst>
          </p:cNvPr>
          <p:cNvSpPr/>
          <p:nvPr/>
        </p:nvSpPr>
        <p:spPr>
          <a:xfrm>
            <a:off x="2346812" y="160442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A6835FD-97BF-DEC1-B1F5-0F3295AA9CE8}"/>
              </a:ext>
            </a:extLst>
          </p:cNvPr>
          <p:cNvCxnSpPr>
            <a:cxnSpLocks/>
          </p:cNvCxnSpPr>
          <p:nvPr/>
        </p:nvCxnSpPr>
        <p:spPr>
          <a:xfrm flipV="1">
            <a:off x="4484202" y="2263959"/>
            <a:ext cx="197922" cy="36677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9274D58-C3EA-161A-96D7-03A0207B27EB}"/>
              </a:ext>
            </a:extLst>
          </p:cNvPr>
          <p:cNvCxnSpPr>
            <a:cxnSpLocks/>
          </p:cNvCxnSpPr>
          <p:nvPr/>
        </p:nvCxnSpPr>
        <p:spPr>
          <a:xfrm flipV="1">
            <a:off x="5137290" y="2263959"/>
            <a:ext cx="197922" cy="36677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A2F56BDF-E542-1CED-E8D0-B598BB65523E}"/>
              </a:ext>
            </a:extLst>
          </p:cNvPr>
          <p:cNvSpPr/>
          <p:nvPr/>
        </p:nvSpPr>
        <p:spPr>
          <a:xfrm>
            <a:off x="5277281" y="2202042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EE1C87F-B192-654A-47D3-BF6C52AB349C}"/>
              </a:ext>
            </a:extLst>
          </p:cNvPr>
          <p:cNvSpPr/>
          <p:nvPr/>
        </p:nvSpPr>
        <p:spPr>
          <a:xfrm>
            <a:off x="4641495" y="2193850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5E6683CA-3BEC-DA81-4054-62A498ED4AAB}"/>
              </a:ext>
            </a:extLst>
          </p:cNvPr>
          <p:cNvCxnSpPr>
            <a:cxnSpLocks/>
          </p:cNvCxnSpPr>
          <p:nvPr/>
        </p:nvCxnSpPr>
        <p:spPr>
          <a:xfrm>
            <a:off x="3480334" y="1672794"/>
            <a:ext cx="0" cy="26917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E97B167E-F8FA-21AD-1905-9A7C66EAA434}"/>
              </a:ext>
            </a:extLst>
          </p:cNvPr>
          <p:cNvCxnSpPr>
            <a:cxnSpLocks/>
          </p:cNvCxnSpPr>
          <p:nvPr/>
        </p:nvCxnSpPr>
        <p:spPr>
          <a:xfrm>
            <a:off x="1131208" y="3032978"/>
            <a:ext cx="4213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79E8CD9-C6C7-A434-8812-7C41F99D7294}"/>
              </a:ext>
            </a:extLst>
          </p:cNvPr>
          <p:cNvCxnSpPr>
            <a:cxnSpLocks/>
            <a:stCxn id="63" idx="1"/>
          </p:cNvCxnSpPr>
          <p:nvPr/>
        </p:nvCxnSpPr>
        <p:spPr>
          <a:xfrm flipH="1" flipV="1">
            <a:off x="1682475" y="3811061"/>
            <a:ext cx="3670378" cy="1494409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69F546E-FCE8-F451-BEDF-600149491AFB}"/>
              </a:ext>
            </a:extLst>
          </p:cNvPr>
          <p:cNvCxnSpPr>
            <a:cxnSpLocks/>
            <a:stCxn id="62" idx="1"/>
          </p:cNvCxnSpPr>
          <p:nvPr/>
        </p:nvCxnSpPr>
        <p:spPr>
          <a:xfrm flipH="1" flipV="1">
            <a:off x="1552575" y="3417886"/>
            <a:ext cx="3800278" cy="141955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원호 58">
            <a:extLst>
              <a:ext uri="{FF2B5EF4-FFF2-40B4-BE49-F238E27FC236}">
                <a16:creationId xmlns:a16="http://schemas.microsoft.com/office/drawing/2014/main" id="{71404BC5-8F18-58E7-3319-20EBCFD7D95D}"/>
              </a:ext>
            </a:extLst>
          </p:cNvPr>
          <p:cNvSpPr/>
          <p:nvPr/>
        </p:nvSpPr>
        <p:spPr>
          <a:xfrm>
            <a:off x="672227" y="3307722"/>
            <a:ext cx="900000" cy="900000"/>
          </a:xfrm>
          <a:prstGeom prst="arc">
            <a:avLst>
              <a:gd name="adj1" fmla="val 18144896"/>
              <a:gd name="adj2" fmla="val 21558778"/>
            </a:avLst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42F4D3A-4378-069D-9163-6015A1771B14}"/>
              </a:ext>
            </a:extLst>
          </p:cNvPr>
          <p:cNvCxnSpPr>
            <a:cxnSpLocks/>
            <a:stCxn id="64" idx="1"/>
          </p:cNvCxnSpPr>
          <p:nvPr/>
        </p:nvCxnSpPr>
        <p:spPr>
          <a:xfrm flipH="1" flipV="1">
            <a:off x="1682475" y="4265051"/>
            <a:ext cx="3661713" cy="1531245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6C57138-043F-4359-53DB-4659C16FA358}"/>
              </a:ext>
            </a:extLst>
          </p:cNvPr>
          <p:cNvSpPr txBox="1"/>
          <p:nvPr/>
        </p:nvSpPr>
        <p:spPr>
          <a:xfrm>
            <a:off x="5352853" y="4652772"/>
            <a:ext cx="3032336" cy="369332"/>
          </a:xfrm>
          <a:prstGeom prst="rect">
            <a:avLst/>
          </a:prstGeom>
          <a:noFill/>
          <a:ln w="28575">
            <a:solidFill>
              <a:srgbClr val="08499A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Motor angle control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5E9729-52DB-C030-C91A-9AEEDFFB15AA}"/>
              </a:ext>
            </a:extLst>
          </p:cNvPr>
          <p:cNvSpPr txBox="1"/>
          <p:nvPr/>
        </p:nvSpPr>
        <p:spPr>
          <a:xfrm>
            <a:off x="5352853" y="5120804"/>
            <a:ext cx="3032336" cy="369332"/>
          </a:xfrm>
          <a:prstGeom prst="rect">
            <a:avLst/>
          </a:prstGeom>
          <a:noFill/>
          <a:ln w="28575">
            <a:solidFill>
              <a:srgbClr val="08499A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 angle check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BAC3CD-12F3-BC69-E67A-5F8B1CEC1BC4}"/>
              </a:ext>
            </a:extLst>
          </p:cNvPr>
          <p:cNvSpPr txBox="1"/>
          <p:nvPr/>
        </p:nvSpPr>
        <p:spPr>
          <a:xfrm>
            <a:off x="5344188" y="5611630"/>
            <a:ext cx="3032336" cy="369332"/>
          </a:xfrm>
          <a:prstGeom prst="rect">
            <a:avLst/>
          </a:prstGeom>
          <a:noFill/>
          <a:ln w="28575">
            <a:solidFill>
              <a:srgbClr val="08499A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Gear ratio calculation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4A5EB74-518D-FA52-C924-903F70B9FEFD}"/>
              </a:ext>
            </a:extLst>
          </p:cNvPr>
          <p:cNvSpPr txBox="1"/>
          <p:nvPr/>
        </p:nvSpPr>
        <p:spPr>
          <a:xfrm>
            <a:off x="5352853" y="4183800"/>
            <a:ext cx="3032336" cy="369332"/>
          </a:xfrm>
          <a:prstGeom prst="rect">
            <a:avLst/>
          </a:prstGeom>
          <a:noFill/>
          <a:ln w="28575">
            <a:solidFill>
              <a:srgbClr val="08499A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Trigonometric coordinate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6E22829-59E3-39B6-867F-465899777EEE}"/>
              </a:ext>
            </a:extLst>
          </p:cNvPr>
          <p:cNvCxnSpPr>
            <a:cxnSpLocks/>
            <a:stCxn id="65" idx="0"/>
          </p:cNvCxnSpPr>
          <p:nvPr/>
        </p:nvCxnSpPr>
        <p:spPr>
          <a:xfrm flipV="1">
            <a:off x="6869021" y="2674200"/>
            <a:ext cx="108828" cy="150960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342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Direction of control practice</a:t>
            </a:r>
            <a:endParaRPr lang="ko-KR" altLang="en-US" sz="24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42808" y="1788514"/>
            <a:ext cx="80915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Manipulator should be operated using </a:t>
            </a:r>
            <a:r>
              <a:rPr lang="en-US" altLang="ko-KR" sz="16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manual control code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instead of </a:t>
            </a:r>
            <a:r>
              <a:rPr lang="en-US" altLang="ko-KR" sz="1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backdrive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SDK for additional function queries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50004" y="5931227"/>
            <a:ext cx="82439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hlinkClick r:id="rId2"/>
              </a:rPr>
              <a:t>https://www.airspayce.com/mikem/arduino/AccelStepper/classAccelStepper.html</a:t>
            </a:r>
            <a:endParaRPr lang="ko-KR" altLang="en-US" sz="1200" dirty="0"/>
          </a:p>
        </p:txBody>
      </p:sp>
      <p:sp>
        <p:nvSpPr>
          <p:cNvPr id="8" name="직사각형 7">
            <a:hlinkClick r:id="rId2"/>
          </p:cNvPr>
          <p:cNvSpPr/>
          <p:nvPr/>
        </p:nvSpPr>
        <p:spPr>
          <a:xfrm>
            <a:off x="4116085" y="2308663"/>
            <a:ext cx="745038" cy="3057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SDK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352DAA2-FAAC-B2B0-4306-0ED19BE2ED66}"/>
              </a:ext>
            </a:extLst>
          </p:cNvPr>
          <p:cNvGrpSpPr/>
          <p:nvPr/>
        </p:nvGrpSpPr>
        <p:grpSpPr>
          <a:xfrm>
            <a:off x="3100386" y="3116623"/>
            <a:ext cx="2943226" cy="2409825"/>
            <a:chOff x="2842260" y="3253740"/>
            <a:chExt cx="2943226" cy="2409825"/>
          </a:xfrm>
        </p:grpSpPr>
        <p:pic>
          <p:nvPicPr>
            <p:cNvPr id="4" name="그래픽 3" descr="로봇 손 윤곽선">
              <a:extLst>
                <a:ext uri="{FF2B5EF4-FFF2-40B4-BE49-F238E27FC236}">
                  <a16:creationId xmlns:a16="http://schemas.microsoft.com/office/drawing/2014/main" id="{6CEBC7EB-E8F8-9BE7-7B43-A93811E900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51199" y="3482340"/>
              <a:ext cx="1885698" cy="1885698"/>
            </a:xfrm>
            <a:prstGeom prst="rect">
              <a:avLst/>
            </a:prstGeom>
          </p:spPr>
        </p:pic>
        <p:pic>
          <p:nvPicPr>
            <p:cNvPr id="7" name="그래픽 6" descr="핀치 확대 단색으로 채워진">
              <a:extLst>
                <a:ext uri="{FF2B5EF4-FFF2-40B4-BE49-F238E27FC236}">
                  <a16:creationId xmlns:a16="http://schemas.microsoft.com/office/drawing/2014/main" id="{AB0CC06E-F15A-4B24-113F-65C05EEA35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28172" y="3429843"/>
              <a:ext cx="914400" cy="914400"/>
            </a:xfrm>
            <a:prstGeom prst="rect">
              <a:avLst/>
            </a:prstGeom>
          </p:spPr>
        </p:pic>
        <p:pic>
          <p:nvPicPr>
            <p:cNvPr id="10" name="그래픽 9" descr="금지 표지 단색으로 채워진">
              <a:extLst>
                <a:ext uri="{FF2B5EF4-FFF2-40B4-BE49-F238E27FC236}">
                  <a16:creationId xmlns:a16="http://schemas.microsoft.com/office/drawing/2014/main" id="{EF59A4D7-2D24-3C8D-C2E8-52DEB879CB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85384" y="4863464"/>
              <a:ext cx="800101" cy="800101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2D163A5-FCC9-7DC0-6726-00B04911582D}"/>
                </a:ext>
              </a:extLst>
            </p:cNvPr>
            <p:cNvSpPr/>
            <p:nvPr/>
          </p:nvSpPr>
          <p:spPr>
            <a:xfrm>
              <a:off x="2842260" y="3253740"/>
              <a:ext cx="2943226" cy="240982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BB97AAA-E68F-DF31-0DA9-EFD71F66BB9A}"/>
                </a:ext>
              </a:extLst>
            </p:cNvPr>
            <p:cNvSpPr/>
            <p:nvPr/>
          </p:nvSpPr>
          <p:spPr>
            <a:xfrm>
              <a:off x="4985383" y="4863463"/>
              <a:ext cx="800102" cy="80010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0269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Stepper motor</a:t>
            </a:r>
            <a:endParaRPr lang="ko-KR" altLang="en-US" sz="24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507445" y="6106985"/>
            <a:ext cx="612911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>
                <a:hlinkClick r:id="rId2"/>
              </a:rPr>
              <a:t>https://www.youtube.com/watch?v=09Mpkjcr0bo&amp;t=188s</a:t>
            </a:r>
            <a:endParaRPr lang="ko-KR" altLang="en-US" sz="1100" dirty="0"/>
          </a:p>
        </p:txBody>
      </p:sp>
      <p:sp>
        <p:nvSpPr>
          <p:cNvPr id="2" name="직사각형 1">
            <a:hlinkClick r:id="rId2"/>
            <a:extLst>
              <a:ext uri="{FF2B5EF4-FFF2-40B4-BE49-F238E27FC236}">
                <a16:creationId xmlns:a16="http://schemas.microsoft.com/office/drawing/2014/main" id="{EB9309F7-1560-5B0A-33BE-A5C1A4ACB6A0}"/>
              </a:ext>
            </a:extLst>
          </p:cNvPr>
          <p:cNvSpPr/>
          <p:nvPr/>
        </p:nvSpPr>
        <p:spPr>
          <a:xfrm>
            <a:off x="4089175" y="3123259"/>
            <a:ext cx="977447" cy="611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VIDEO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8055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Stepper motor action &amp; angle input action</a:t>
            </a:r>
            <a:endParaRPr lang="ko-KR" altLang="en-US" sz="24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00C65-764B-3A0C-E069-10F2D8D6891B}"/>
              </a:ext>
            </a:extLst>
          </p:cNvPr>
          <p:cNvSpPr txBox="1"/>
          <p:nvPr/>
        </p:nvSpPr>
        <p:spPr>
          <a:xfrm>
            <a:off x="145825" y="717196"/>
            <a:ext cx="8998175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void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loop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</a:t>
            </a:r>
          </a:p>
          <a:p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</a:p>
          <a:p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rotationmovementinsert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(3200,0,0)</a:t>
            </a:r>
          </a:p>
          <a:p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anglemovementinset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360,0,0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);//붐 30도 이동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void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rotationmovementinsert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long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base,long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boom,long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  <a:endParaRPr lang="en-US" altLang="ko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//0~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200사이 값을 입력 받아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스텝값으로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저장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마이크로 스텝은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16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배인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3200)</a:t>
            </a:r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positions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robot_position_base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 =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base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</a:t>
            </a:r>
          </a:p>
          <a:p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positions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robot_position_arm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 =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</a:t>
            </a:r>
          </a:p>
          <a:p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positions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robot_position_boom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] =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boom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</a:t>
            </a:r>
          </a:p>
          <a:p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steppers.moveTo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positions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 //포지션 입력</a:t>
            </a:r>
          </a:p>
          <a:p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steppers.runSpeedToPosition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(); //각각 동작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8935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7FF58-6DE3-1FC2-80CD-CA4ADC1C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45E062F-26BF-07F6-F261-2775800ED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Stepper motor action &amp; angle input action</a:t>
            </a:r>
            <a:endParaRPr lang="ko-KR" altLang="en-US" sz="24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89ADD-0456-8D8C-D911-B17FD1C112DF}"/>
              </a:ext>
            </a:extLst>
          </p:cNvPr>
          <p:cNvSpPr txBox="1"/>
          <p:nvPr/>
        </p:nvSpPr>
        <p:spPr>
          <a:xfrm>
            <a:off x="145825" y="717196"/>
            <a:ext cx="89981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void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anglemovementinset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angle_base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angle_boom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angle_arm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</a:p>
          <a:p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instantbo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instantba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instantar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;//지역 변수 선언</a:t>
            </a:r>
          </a:p>
          <a:p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//베이스의 경우 감속기어가 없이 평기어만 부착되어있음에 원하는 각도에 따라 요구되는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스텝수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계산 수식</a:t>
            </a:r>
          </a:p>
          <a:p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//1.스텝모터 1회전(360도)시 요구되는 스텝 = 200, (1스텝당 1.8도 이동)</a:t>
            </a:r>
          </a:p>
          <a:p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//2.마이크로 스텝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설정시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스텝 2,4,8,16배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증폭가능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16배 증폭에 따라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스텝모터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1회전시 요구되는 스텝 = 200*16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//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.원하는 각도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입력시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상응하는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스텝수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계산식 = (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/360)*200*16</a:t>
            </a:r>
          </a:p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instantba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= (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angle_base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microstep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/360);</a:t>
            </a:r>
          </a:p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instantbo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= (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angle_base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microstep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/360);</a:t>
            </a:r>
          </a:p>
          <a:p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instantar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= (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angle_base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ko-KR" altLang="en-US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microstep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/360);</a:t>
            </a:r>
          </a:p>
          <a:p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4.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계산된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스텝값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인자로 입력, 이때,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스텝수는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long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형이고 현재는 세밀한 계산을 위해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형변환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입력</a:t>
            </a:r>
          </a:p>
          <a:p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rotationmovementinsert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((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long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instantba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(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long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instantbo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(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long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instantar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</a:t>
            </a:r>
          </a:p>
          <a:p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1061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586F1-5349-016B-3962-F0CDACD7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6022545D-72AE-5D82-1864-134CF89A6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Gear ratio calculate</a:t>
            </a:r>
            <a:endParaRPr lang="ko-KR" altLang="en-US" sz="24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361972-F096-DA89-6B1B-B3326F1F8E1E}"/>
                  </a:ext>
                </a:extLst>
              </p:cNvPr>
              <p:cNvSpPr txBox="1"/>
              <p:nvPr/>
            </p:nvSpPr>
            <p:spPr>
              <a:xfrm>
                <a:off x="399744" y="1059725"/>
                <a:ext cx="8662995" cy="1722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defTabSz="914400" latinLnBrk="1">
                  <a:lnSpc>
                    <a:spcPct val="90000"/>
                  </a:lnSpc>
                  <a:spcBef>
                    <a:spcPct val="0"/>
                  </a:spcBef>
                  <a:buFontTx/>
                  <a:buChar char="-"/>
                </a:pP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Gear Teeth Count &amp; Form</a:t>
                </a:r>
                <a:b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</a:b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SUN gear : 8 - INPUT</a:t>
                </a:r>
                <a:b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</a:b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PLANET gear : 12 - OUTPUT</a:t>
                </a:r>
                <a:b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</a:b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RING gear : 32 - HOLD</a:t>
                </a:r>
                <a:b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</a:br>
                <a:endPara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  <a:p>
                <a:pPr marL="285750" indent="-285750" defTabSz="914400" latinLnBrk="1">
                  <a:lnSpc>
                    <a:spcPct val="90000"/>
                  </a:lnSpc>
                  <a:spcBef>
                    <a:spcPct val="0"/>
                  </a:spcBef>
                  <a:buFontTx/>
                  <a:buChar char="-"/>
                </a:pP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Formular 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ko-KR" i="1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361972-F096-DA89-6B1B-B3326F1F8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44" y="1059725"/>
                <a:ext cx="8662995" cy="1722266"/>
              </a:xfrm>
              <a:prstGeom prst="rect">
                <a:avLst/>
              </a:prstGeom>
              <a:blipFill>
                <a:blip r:embed="rId2"/>
                <a:stretch>
                  <a:fillRect l="-493" t="-3546" b="-1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그룹 2">
            <a:extLst>
              <a:ext uri="{FF2B5EF4-FFF2-40B4-BE49-F238E27FC236}">
                <a16:creationId xmlns:a16="http://schemas.microsoft.com/office/drawing/2014/main" id="{9E27FEA1-08F4-7322-315C-4A5E487B07F0}"/>
              </a:ext>
            </a:extLst>
          </p:cNvPr>
          <p:cNvGrpSpPr/>
          <p:nvPr/>
        </p:nvGrpSpPr>
        <p:grpSpPr>
          <a:xfrm>
            <a:off x="1018118" y="3754652"/>
            <a:ext cx="7106642" cy="1981477"/>
            <a:chOff x="4613039" y="3843408"/>
            <a:chExt cx="7106642" cy="198147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7F7F34B-EC43-B65B-1B01-2DBA02A17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3039" y="3843408"/>
              <a:ext cx="7106642" cy="198147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C2638DA-3D6B-4796-47DB-949B80633513}"/>
                </a:ext>
              </a:extLst>
            </p:cNvPr>
            <p:cNvSpPr/>
            <p:nvPr/>
          </p:nvSpPr>
          <p:spPr>
            <a:xfrm>
              <a:off x="4772841" y="4407408"/>
              <a:ext cx="6647820" cy="428608"/>
            </a:xfrm>
            <a:prstGeom prst="rect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5230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000C65-764B-3A0C-E069-10F2D8D6891B}"/>
              </a:ext>
            </a:extLst>
          </p:cNvPr>
          <p:cNvSpPr txBox="1"/>
          <p:nvPr/>
        </p:nvSpPr>
        <p:spPr>
          <a:xfrm>
            <a:off x="145825" y="717196"/>
            <a:ext cx="8998175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/>
              <a:t>void</a:t>
            </a:r>
            <a:r>
              <a:rPr lang="ko-KR" altLang="en-US" b="1" dirty="0"/>
              <a:t> </a:t>
            </a:r>
            <a:r>
              <a:rPr lang="ko-KR" altLang="en-US" b="1" dirty="0" err="1"/>
              <a:t>anglemovementinset</a:t>
            </a:r>
            <a:r>
              <a:rPr lang="ko-KR" altLang="en-US" b="1" dirty="0"/>
              <a:t>(</a:t>
            </a:r>
            <a:r>
              <a:rPr lang="ko-KR" altLang="en-US" b="1" dirty="0" err="1"/>
              <a:t>double</a:t>
            </a:r>
            <a:r>
              <a:rPr lang="ko-KR" altLang="en-US" b="1" dirty="0"/>
              <a:t> </a:t>
            </a:r>
            <a:r>
              <a:rPr lang="ko-KR" altLang="en-US" b="1" dirty="0" err="1"/>
              <a:t>angle_base</a:t>
            </a:r>
            <a:r>
              <a:rPr lang="ko-KR" altLang="en-US" b="1" dirty="0"/>
              <a:t>, </a:t>
            </a:r>
            <a:r>
              <a:rPr lang="ko-KR" altLang="en-US" b="1" dirty="0" err="1"/>
              <a:t>double</a:t>
            </a:r>
            <a:r>
              <a:rPr lang="ko-KR" altLang="en-US" b="1" dirty="0"/>
              <a:t> </a:t>
            </a:r>
            <a:r>
              <a:rPr lang="ko-KR" altLang="en-US" b="1" dirty="0" err="1"/>
              <a:t>angle_boom</a:t>
            </a:r>
            <a:r>
              <a:rPr lang="ko-KR" altLang="en-US" b="1" dirty="0"/>
              <a:t>, </a:t>
            </a:r>
            <a:r>
              <a:rPr lang="ko-KR" altLang="en-US" b="1" dirty="0" err="1"/>
              <a:t>double</a:t>
            </a:r>
            <a:r>
              <a:rPr lang="ko-KR" altLang="en-US" b="1" dirty="0"/>
              <a:t> </a:t>
            </a:r>
            <a:r>
              <a:rPr lang="ko-KR" altLang="en-US" b="1" dirty="0" err="1"/>
              <a:t>angle_arm</a:t>
            </a:r>
            <a:r>
              <a:rPr lang="ko-KR" altLang="en-US" b="1" dirty="0"/>
              <a:t>)</a:t>
            </a:r>
          </a:p>
          <a:p>
            <a:r>
              <a:rPr lang="ko-KR" altLang="en-US" b="1" dirty="0"/>
              <a:t>{</a:t>
            </a:r>
          </a:p>
          <a:p>
            <a:r>
              <a:rPr lang="ko-KR" altLang="en-US" sz="2000" dirty="0"/>
              <a:t>  </a:t>
            </a:r>
            <a:r>
              <a:rPr lang="ko-KR" altLang="en-US" sz="2000" dirty="0" err="1"/>
              <a:t>double</a:t>
            </a:r>
            <a:r>
              <a:rPr lang="ko-KR" altLang="en-US" sz="2000" dirty="0"/>
              <a:t> </a:t>
            </a:r>
            <a:r>
              <a:rPr lang="ko-KR" altLang="en-US" sz="2000" dirty="0" err="1"/>
              <a:t>instantbo</a:t>
            </a:r>
            <a:r>
              <a:rPr lang="ko-KR" altLang="en-US" sz="2000" dirty="0"/>
              <a:t>, </a:t>
            </a:r>
            <a:r>
              <a:rPr lang="ko-KR" altLang="en-US" sz="2000" dirty="0" err="1"/>
              <a:t>instantba</a:t>
            </a:r>
            <a:r>
              <a:rPr lang="ko-KR" altLang="en-US" sz="2000" dirty="0"/>
              <a:t>, </a:t>
            </a:r>
            <a:r>
              <a:rPr lang="ko-KR" altLang="en-US" sz="2000" dirty="0" err="1"/>
              <a:t>instantar</a:t>
            </a:r>
            <a:r>
              <a:rPr lang="ko-KR" altLang="en-US" sz="2000" dirty="0"/>
              <a:t>;//지역 변수 선언</a:t>
            </a:r>
          </a:p>
          <a:p>
            <a:r>
              <a:rPr lang="ko-KR" altLang="en-US" sz="2000" dirty="0"/>
              <a:t>  //1.스텝모터 1회전(360도)시 요구되는 스텝 = 200, (1스텝당 1.8도 이동)</a:t>
            </a:r>
          </a:p>
          <a:p>
            <a:r>
              <a:rPr lang="ko-KR" altLang="en-US" sz="2000" dirty="0"/>
              <a:t>  //2.마이크로 스텝 </a:t>
            </a:r>
            <a:r>
              <a:rPr lang="ko-KR" altLang="en-US" sz="2000" dirty="0" err="1"/>
              <a:t>설정시</a:t>
            </a:r>
            <a:r>
              <a:rPr lang="ko-KR" altLang="en-US" sz="2000" dirty="0"/>
              <a:t>, 스텝 2,4,8,16배 증폭가능</a:t>
            </a:r>
            <a:r>
              <a:rPr lang="en-US" altLang="ko-KR" sz="2000" dirty="0"/>
              <a:t>,</a:t>
            </a:r>
            <a:r>
              <a:rPr lang="ko-KR" altLang="en-US" sz="2000" dirty="0"/>
              <a:t> 스텝모터 1회전시 스텝 = 200*16</a:t>
            </a:r>
          </a:p>
          <a:p>
            <a:r>
              <a:rPr lang="ko-KR" altLang="en-US" sz="2000" dirty="0"/>
              <a:t>  //3.평기어 </a:t>
            </a:r>
            <a:r>
              <a:rPr lang="ko-KR" altLang="en-US" sz="2000" dirty="0" err="1"/>
              <a:t>기어비</a:t>
            </a:r>
            <a:r>
              <a:rPr lang="ko-KR" altLang="en-US" sz="2000" dirty="0"/>
              <a:t> = 32/9(3.56)</a:t>
            </a:r>
            <a:r>
              <a:rPr lang="ko-KR" altLang="en-US" sz="2000" dirty="0" err="1"/>
              <a:t>임에따라</a:t>
            </a:r>
            <a:r>
              <a:rPr lang="ko-KR" altLang="en-US" sz="2000" dirty="0"/>
              <a:t> </a:t>
            </a:r>
            <a:r>
              <a:rPr lang="ko-KR" altLang="en-US" sz="2000" dirty="0" err="1"/>
              <a:t>평기어</a:t>
            </a:r>
            <a:r>
              <a:rPr lang="ko-KR" altLang="en-US" sz="2000" dirty="0"/>
              <a:t> 1회전시 스텝 = 200*16*3.56</a:t>
            </a:r>
          </a:p>
          <a:p>
            <a:r>
              <a:rPr lang="ko-KR" altLang="en-US" sz="2000" dirty="0"/>
              <a:t>  //4.추가적으로 5:1감속기어가 부착, 감속기어 1회전 </a:t>
            </a:r>
            <a:r>
              <a:rPr lang="ko-KR" altLang="en-US" sz="2000" dirty="0" err="1"/>
              <a:t>스텝수</a:t>
            </a:r>
            <a:r>
              <a:rPr lang="ko-KR" altLang="en-US" sz="2000" dirty="0"/>
              <a:t> = 200*16*3.56*5</a:t>
            </a:r>
          </a:p>
          <a:p>
            <a:r>
              <a:rPr lang="ko-KR" altLang="en-US" sz="2000" dirty="0"/>
              <a:t>  //5.원하는 감속기어 각도 </a:t>
            </a:r>
            <a:r>
              <a:rPr lang="ko-KR" altLang="en-US" sz="2000" dirty="0" err="1"/>
              <a:t>입력시</a:t>
            </a:r>
            <a:r>
              <a:rPr lang="ko-KR" altLang="en-US" sz="2000" dirty="0"/>
              <a:t> 이에 상응하는 </a:t>
            </a:r>
            <a:r>
              <a:rPr lang="ko-KR" altLang="en-US" sz="2000" dirty="0" err="1"/>
              <a:t>스텝수</a:t>
            </a:r>
            <a:r>
              <a:rPr lang="ko-KR" altLang="en-US" sz="2000" dirty="0"/>
              <a:t> 계산식 = (</a:t>
            </a:r>
            <a:r>
              <a:rPr lang="ko-KR" altLang="en-US" sz="2000" dirty="0" err="1"/>
              <a:t>angle</a:t>
            </a:r>
            <a:r>
              <a:rPr lang="ko-KR" altLang="en-US" sz="2000" dirty="0"/>
              <a:t>/360)*200*16*3.56*5</a:t>
            </a:r>
            <a:endParaRPr lang="en-US" altLang="ko-KR" sz="2000" dirty="0"/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instantba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= (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angle_base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microstep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/360);</a:t>
            </a: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instantbo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= (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planetarygear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angle_boom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smallgearstep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microstep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normgear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/360);</a:t>
            </a: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instantar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= (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planetarygear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angle_arm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smallgearstep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microstep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*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normgear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/360);</a:t>
            </a:r>
            <a:endParaRPr lang="ko-KR" altLang="en-US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/>
              <a:t>  </a:t>
            </a:r>
            <a:r>
              <a:rPr lang="ko-KR" altLang="en-US" sz="2000" dirty="0" err="1"/>
              <a:t>rotationmovementinsert</a:t>
            </a:r>
            <a:r>
              <a:rPr lang="ko-KR" altLang="en-US" sz="2000" dirty="0"/>
              <a:t>((</a:t>
            </a:r>
            <a:r>
              <a:rPr lang="ko-KR" altLang="en-US" sz="2000" dirty="0" err="1"/>
              <a:t>long</a:t>
            </a:r>
            <a:r>
              <a:rPr lang="ko-KR" altLang="en-US" sz="2000" dirty="0"/>
              <a:t>)</a:t>
            </a:r>
            <a:r>
              <a:rPr lang="ko-KR" altLang="en-US" sz="2000" dirty="0" err="1"/>
              <a:t>instantba</a:t>
            </a:r>
            <a:r>
              <a:rPr lang="ko-KR" altLang="en-US" sz="2000" dirty="0"/>
              <a:t>, (</a:t>
            </a:r>
            <a:r>
              <a:rPr lang="ko-KR" altLang="en-US" sz="2000" dirty="0" err="1"/>
              <a:t>long</a:t>
            </a:r>
            <a:r>
              <a:rPr lang="ko-KR" altLang="en-US" sz="2000" dirty="0"/>
              <a:t>)</a:t>
            </a:r>
            <a:r>
              <a:rPr lang="ko-KR" altLang="en-US" sz="2000" dirty="0" err="1"/>
              <a:t>instantbo</a:t>
            </a:r>
            <a:r>
              <a:rPr lang="ko-KR" altLang="en-US" sz="2000" dirty="0"/>
              <a:t>, (</a:t>
            </a:r>
            <a:r>
              <a:rPr lang="ko-KR" altLang="en-US" sz="2000" dirty="0" err="1"/>
              <a:t>long</a:t>
            </a:r>
            <a:r>
              <a:rPr lang="ko-KR" altLang="en-US" sz="2000" dirty="0"/>
              <a:t>)</a:t>
            </a:r>
            <a:r>
              <a:rPr lang="ko-KR" altLang="en-US" sz="2000" dirty="0" err="1"/>
              <a:t>instantar</a:t>
            </a:r>
            <a:r>
              <a:rPr lang="ko-KR" altLang="en-US" sz="2000" dirty="0"/>
              <a:t>);</a:t>
            </a:r>
            <a:endParaRPr lang="ko-KR" altLang="en-US" dirty="0"/>
          </a:p>
          <a:p>
            <a:r>
              <a:rPr lang="ko-KR" altLang="en-US" b="1" dirty="0"/>
              <a:t>}</a:t>
            </a: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Gear ratio calculate</a:t>
            </a:r>
            <a:endParaRPr lang="ko-KR" altLang="en-US" sz="24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521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Current angle check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687A67-706A-FA83-2157-0F752B38A267}"/>
              </a:ext>
            </a:extLst>
          </p:cNvPr>
          <p:cNvSpPr txBox="1"/>
          <p:nvPr/>
        </p:nvSpPr>
        <p:spPr>
          <a:xfrm>
            <a:off x="145825" y="717196"/>
            <a:ext cx="899817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void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currentpositionshower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()//현재 각도를 출력하는 함수</a:t>
            </a:r>
          </a:p>
          <a:p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long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instantshower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;//지역변수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instantshower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base.currentPosition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();//프로그램 내부적으로 베이스 모터의 현재 스텝 값을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읽어옴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baseangle_current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instantshower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*360/(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smallgearstep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microstep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normgear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기어비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계산후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저장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Serial.print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("\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nangle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base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:");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Serial.println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baseangle_current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);//각도 출력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instantshower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boom.currentPosition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();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boomangle_current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instantshower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*360/(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smallgearstep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microstep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planetarygear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normgear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);//감속기어 부착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Serial.print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("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boom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:");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Serial.println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boomangle_current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instantshower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arm.currentPosition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();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armangle_current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instantshower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*360/(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smallgearstep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microstep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planetarygear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normgear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Serial.print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("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arm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:");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Serial.println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armangle_current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</a:t>
            </a:r>
          </a:p>
          <a:p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2947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Forward Kinematics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2C1DB20-6D87-617F-DB44-7EB0650778B6}"/>
                  </a:ext>
                </a:extLst>
              </p:cNvPr>
              <p:cNvSpPr txBox="1"/>
              <p:nvPr/>
            </p:nvSpPr>
            <p:spPr>
              <a:xfrm>
                <a:off x="5497094" y="858586"/>
                <a:ext cx="3793061" cy="25204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𝐼𝑁𝑃𝑈𝑇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𝐴𝑁𝐺𝐿𝐸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𝑂𝑈𝑇𝑃𝑈𝑇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𝐶𝑂𝑂𝑅𝐷𝐼𝑁𝐴𝑇𝐸</m:t>
                      </m:r>
                    </m:oMath>
                  </m:oMathPara>
                </a14:m>
                <a:endParaRPr lang="ar-AE" altLang="ko-KR" sz="1600" dirty="0"/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ar-AE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ar-AE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2C1DB20-6D87-617F-DB44-7EB065077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94" y="858586"/>
                <a:ext cx="3793061" cy="2520498"/>
              </a:xfrm>
              <a:prstGeom prst="rect">
                <a:avLst/>
              </a:prstGeom>
              <a:blipFill>
                <a:blip r:embed="rId2"/>
                <a:stretch>
                  <a:fillRect l="-1929" b="-14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D8ECD6AE-504B-99C5-A07C-C79323017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73195" y1="33021" x2="59091" y2="27874"/>
                        <a14:foregroundMark x1="61163" y1="25000" x2="64037" y2="25000"/>
                        <a14:foregroundMark x1="66979" y1="26337" x2="73730" y2="29746"/>
                        <a14:foregroundMark x1="43115" y1="53342" x2="43115" y2="53810"/>
                        <a14:foregroundMark x1="43115" y1="53810" x2="43115" y2="53810"/>
                        <a14:foregroundMark x1="42981" y1="53810" x2="42313" y2="53676"/>
                        <a14:foregroundMark x1="42714" y1="54612" x2="43917" y2="55548"/>
                        <a14:foregroundMark x1="43984" y1="55548" x2="45187" y2="56016"/>
                        <a14:foregroundMark x1="45521" y1="56217" x2="50201" y2="56818"/>
                        <a14:foregroundMark x1="52741" y1="56551" x2="55481" y2="56283"/>
                        <a14:backgroundMark x1="27406" y1="25401" x2="27406" y2="25401"/>
                        <a14:backgroundMark x1="12233" y1="22393" x2="12233" y2="22393"/>
                        <a14:backgroundMark x1="20922" y1="27874" x2="20922" y2="27874"/>
                        <a14:backgroundMark x1="21190" y1="39572" x2="21190" y2="39572"/>
                        <a14:backgroundMark x1="13703" y1="36364" x2="13703" y2="36364"/>
                        <a14:backgroundMark x1="17714" y1="45588" x2="17714" y2="45588"/>
                        <a14:backgroundMark x1="22193" y1="47527" x2="24866" y2="23930"/>
                        <a14:backgroundMark x1="14171" y1="24198" x2="16912" y2="51270"/>
                        <a14:backgroundMark x1="11230" y1="26872" x2="11430" y2="47527"/>
                        <a14:backgroundMark x1="24666" y1="42313" x2="19452" y2="81551"/>
                        <a14:backgroundMark x1="12834" y1="61765" x2="16711" y2="82888"/>
                        <a14:backgroundMark x1="12233" y1="76270" x2="11430" y2="78142"/>
                        <a14:backgroundMark x1="13302" y1="75334" x2="12099" y2="81551"/>
                        <a14:backgroundMark x1="11832" y1="72193" x2="19452" y2="78877"/>
                        <a14:backgroundMark x1="15842" y1="87366" x2="25134" y2="88102"/>
                        <a14:backgroundMark x1="16176" y1="85762" x2="14439" y2="87099"/>
                        <a14:backgroundMark x1="22259" y1="75334" x2="54880" y2="83757"/>
                        <a14:backgroundMark x1="30147" y1="67112" x2="56484" y2="72460"/>
                        <a14:backgroundMark x1="30749" y1="56016" x2="51738" y2="63837"/>
                        <a14:backgroundMark x1="31150" y1="60963" x2="34492" y2="65441"/>
                        <a14:backgroundMark x1="31350" y1="60227" x2="25000" y2="65842"/>
                        <a14:backgroundMark x1="29011" y1="50936" x2="28142" y2="54011"/>
                        <a14:backgroundMark x1="33088" y1="44920" x2="36965" y2="54679"/>
                        <a14:backgroundMark x1="38703" y1="53877" x2="52273" y2="60227"/>
                        <a14:backgroundMark x1="43583" y1="45922" x2="37567" y2="49666"/>
                        <a14:backgroundMark x1="51872" y1="57620" x2="69786" y2="62233"/>
                        <a14:backgroundMark x1="60094" y1="51136" x2="58088" y2="57888"/>
                        <a14:backgroundMark x1="60361" y1="61965" x2="60829" y2="76805"/>
                        <a14:backgroundMark x1="48730" y1="56952" x2="56083" y2="57152"/>
                        <a14:backgroundMark x1="56818" y1="52206" x2="55949" y2="49398"/>
                        <a14:backgroundMark x1="54345" y1="49799" x2="55348" y2="51404"/>
                        <a14:backgroundMark x1="54947" y1="53209" x2="54412" y2="51203"/>
                        <a14:backgroundMark x1="65107" y1="27340" x2="69920" y2="29746"/>
                        <a14:backgroundMark x1="54479" y1="30615" x2="50802" y2="35294"/>
                        <a14:backgroundMark x1="73061" y1="28008" x2="72193" y2="27406"/>
                        <a14:backgroundMark x1="71123" y1="26872" x2="73396" y2="28142"/>
                        <a14:backgroundMark x1="48663" y1="57219" x2="45588" y2="56818"/>
                        <a14:backgroundMark x1="52874" y1="56751" x2="55816" y2="56417"/>
                        <a14:backgroundMark x1="43917" y1="55615" x2="45521" y2="56283"/>
                        <a14:backgroundMark x1="45922" y1="56484" x2="48864" y2="56885"/>
                        <a14:backgroundMark x1="49866" y1="56885" x2="45856" y2="56350"/>
                        <a14:backgroundMark x1="50401" y1="56885" x2="49866" y2="56818"/>
                        <a14:backgroundMark x1="45388" y1="56283" x2="45922" y2="56350"/>
                      </a14:backgroundRemoval>
                    </a14:imgEffect>
                  </a14:imgLayer>
                </a14:imgProps>
              </a:ext>
            </a:extLst>
          </a:blip>
          <a:srcRect l="42006" t="23014" r="21304" b="42621"/>
          <a:stretch/>
        </p:blipFill>
        <p:spPr>
          <a:xfrm rot="21255573">
            <a:off x="-224009" y="919246"/>
            <a:ext cx="5832819" cy="546310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4BB1F2-0433-8B2D-5F7B-8E82C4DFF214}"/>
              </a:ext>
            </a:extLst>
          </p:cNvPr>
          <p:cNvCxnSpPr>
            <a:cxnSpLocks/>
          </p:cNvCxnSpPr>
          <p:nvPr/>
        </p:nvCxnSpPr>
        <p:spPr>
          <a:xfrm flipH="1">
            <a:off x="4652843" y="2256032"/>
            <a:ext cx="668392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08E0EE-CA60-C25A-972D-549AE7C3375E}"/>
                  </a:ext>
                </a:extLst>
              </p:cNvPr>
              <p:cNvSpPr txBox="1"/>
              <p:nvPr/>
            </p:nvSpPr>
            <p:spPr>
              <a:xfrm>
                <a:off x="1149491" y="3032978"/>
                <a:ext cx="2450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08E0EE-CA60-C25A-972D-549AE7C33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491" y="3032978"/>
                <a:ext cx="245067" cy="246221"/>
              </a:xfrm>
              <a:prstGeom prst="rect">
                <a:avLst/>
              </a:prstGeom>
              <a:blipFill>
                <a:blip r:embed="rId5"/>
                <a:stretch>
                  <a:fillRect l="-20000" r="-750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D58D27-0C91-5D39-A2E5-400344C70749}"/>
                  </a:ext>
                </a:extLst>
              </p:cNvPr>
              <p:cNvSpPr txBox="1"/>
              <p:nvPr/>
            </p:nvSpPr>
            <p:spPr>
              <a:xfrm>
                <a:off x="1803886" y="2682445"/>
                <a:ext cx="27148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D58D27-0C91-5D39-A2E5-400344C70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886" y="2682445"/>
                <a:ext cx="271484" cy="246221"/>
              </a:xfrm>
              <a:prstGeom prst="rect">
                <a:avLst/>
              </a:prstGeom>
              <a:blipFill>
                <a:blip r:embed="rId6"/>
                <a:stretch>
                  <a:fillRect l="-13636" r="-2273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D480F8-235E-2902-B0ED-6D6DF7A49337}"/>
                  </a:ext>
                </a:extLst>
              </p:cNvPr>
              <p:cNvSpPr txBox="1"/>
              <p:nvPr/>
            </p:nvSpPr>
            <p:spPr>
              <a:xfrm>
                <a:off x="2301123" y="1844137"/>
                <a:ext cx="588751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D480F8-235E-2902-B0ED-6D6DF7A49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123" y="1844137"/>
                <a:ext cx="588751" cy="265650"/>
              </a:xfrm>
              <a:prstGeom prst="rect">
                <a:avLst/>
              </a:prstGeom>
              <a:blipFill>
                <a:blip r:embed="rId7"/>
                <a:stretch>
                  <a:fillRect l="-5155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4F90C8-B2BE-8E05-0BFB-32D221C42BEF}"/>
                  </a:ext>
                </a:extLst>
              </p:cNvPr>
              <p:cNvSpPr txBox="1"/>
              <p:nvPr/>
            </p:nvSpPr>
            <p:spPr>
              <a:xfrm>
                <a:off x="3103624" y="1655823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4F90C8-B2BE-8E05-0BFB-32D221C42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624" y="1655823"/>
                <a:ext cx="249812" cy="246221"/>
              </a:xfrm>
              <a:prstGeom prst="rect">
                <a:avLst/>
              </a:prstGeom>
              <a:blipFill>
                <a:blip r:embed="rId8"/>
                <a:stretch>
                  <a:fillRect l="-19512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71B57B-7177-5F49-B116-D193ABE8D68E}"/>
                  </a:ext>
                </a:extLst>
              </p:cNvPr>
              <p:cNvSpPr txBox="1"/>
              <p:nvPr/>
            </p:nvSpPr>
            <p:spPr>
              <a:xfrm>
                <a:off x="3418420" y="2036421"/>
                <a:ext cx="2762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71B57B-7177-5F49-B116-D193ABE8D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420" y="2036421"/>
                <a:ext cx="276229" cy="246221"/>
              </a:xfrm>
              <a:prstGeom prst="rect">
                <a:avLst/>
              </a:prstGeom>
              <a:blipFill>
                <a:blip r:embed="rId9"/>
                <a:stretch>
                  <a:fillRect l="-13333" r="-2222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036F27-E8B7-155D-2B79-E55C1D311D02}"/>
                  </a:ext>
                </a:extLst>
              </p:cNvPr>
              <p:cNvSpPr txBox="1"/>
              <p:nvPr/>
            </p:nvSpPr>
            <p:spPr>
              <a:xfrm>
                <a:off x="4811135" y="1973501"/>
                <a:ext cx="349583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036F27-E8B7-155D-2B79-E55C1D311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135" y="1973501"/>
                <a:ext cx="349583" cy="246221"/>
              </a:xfrm>
              <a:prstGeom prst="rect">
                <a:avLst/>
              </a:prstGeom>
              <a:blipFill>
                <a:blip r:embed="rId10"/>
                <a:stretch>
                  <a:fillRect l="-10345" r="-5172" b="-7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BCE6CE-CDF2-EAFE-8C38-DC312CE7413A}"/>
                  </a:ext>
                </a:extLst>
              </p:cNvPr>
              <p:cNvSpPr txBox="1"/>
              <p:nvPr/>
            </p:nvSpPr>
            <p:spPr>
              <a:xfrm>
                <a:off x="3880165" y="2622125"/>
                <a:ext cx="615168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BCE6CE-CDF2-EAFE-8C38-DC312CE74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165" y="2622125"/>
                <a:ext cx="615168" cy="265650"/>
              </a:xfrm>
              <a:prstGeom prst="rect">
                <a:avLst/>
              </a:prstGeom>
              <a:blipFill>
                <a:blip r:embed="rId11"/>
                <a:stretch>
                  <a:fillRect l="-6000" r="-1000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8AD844-A75D-7477-747C-4C855B8B38BF}"/>
                  </a:ext>
                </a:extLst>
              </p:cNvPr>
              <p:cNvSpPr txBox="1"/>
              <p:nvPr/>
            </p:nvSpPr>
            <p:spPr>
              <a:xfrm>
                <a:off x="4620320" y="2622125"/>
                <a:ext cx="589905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8AD844-A75D-7477-747C-4C855B8B3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320" y="2622125"/>
                <a:ext cx="589905" cy="265650"/>
              </a:xfrm>
              <a:prstGeom prst="rect">
                <a:avLst/>
              </a:prstGeom>
              <a:blipFill>
                <a:blip r:embed="rId12"/>
                <a:stretch>
                  <a:fillRect l="-6186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원호 12">
            <a:extLst>
              <a:ext uri="{FF2B5EF4-FFF2-40B4-BE49-F238E27FC236}">
                <a16:creationId xmlns:a16="http://schemas.microsoft.com/office/drawing/2014/main" id="{8AF7F7A1-7275-5134-0D07-CAB16AF1404C}"/>
              </a:ext>
            </a:extLst>
          </p:cNvPr>
          <p:cNvSpPr/>
          <p:nvPr/>
        </p:nvSpPr>
        <p:spPr>
          <a:xfrm>
            <a:off x="1948726" y="1224650"/>
            <a:ext cx="900000" cy="900000"/>
          </a:xfrm>
          <a:prstGeom prst="arc">
            <a:avLst>
              <a:gd name="adj1" fmla="val 21571423"/>
              <a:gd name="adj2" fmla="val 847302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FA9C580-655C-0DE0-A9FB-D8D96FDE887E}"/>
              </a:ext>
            </a:extLst>
          </p:cNvPr>
          <p:cNvCxnSpPr>
            <a:cxnSpLocks/>
          </p:cNvCxnSpPr>
          <p:nvPr/>
        </p:nvCxnSpPr>
        <p:spPr>
          <a:xfrm>
            <a:off x="451154" y="3758558"/>
            <a:ext cx="4479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원호 15">
            <a:extLst>
              <a:ext uri="{FF2B5EF4-FFF2-40B4-BE49-F238E27FC236}">
                <a16:creationId xmlns:a16="http://schemas.microsoft.com/office/drawing/2014/main" id="{39E27EFA-C65F-2FC8-BD86-873A9AA10C18}"/>
              </a:ext>
            </a:extLst>
          </p:cNvPr>
          <p:cNvSpPr/>
          <p:nvPr/>
        </p:nvSpPr>
        <p:spPr>
          <a:xfrm>
            <a:off x="669847" y="3307723"/>
            <a:ext cx="900000" cy="900000"/>
          </a:xfrm>
          <a:prstGeom prst="arc">
            <a:avLst>
              <a:gd name="adj1" fmla="val 16248765"/>
              <a:gd name="adj2" fmla="val 18152791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2D4D99B-BEDB-A0E3-92AA-A51400D74D3C}"/>
              </a:ext>
            </a:extLst>
          </p:cNvPr>
          <p:cNvCxnSpPr>
            <a:cxnSpLocks/>
          </p:cNvCxnSpPr>
          <p:nvPr/>
        </p:nvCxnSpPr>
        <p:spPr>
          <a:xfrm flipH="1" flipV="1">
            <a:off x="375239" y="3538486"/>
            <a:ext cx="741957" cy="20645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4B042E1-39C9-BCE9-4867-55CCAE29B22D}"/>
              </a:ext>
            </a:extLst>
          </p:cNvPr>
          <p:cNvCxnSpPr>
            <a:cxnSpLocks/>
          </p:cNvCxnSpPr>
          <p:nvPr/>
        </p:nvCxnSpPr>
        <p:spPr>
          <a:xfrm>
            <a:off x="1146820" y="1671166"/>
            <a:ext cx="36009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4DAF5AD-23FA-F4B6-F5EC-3012BD76BAB0}"/>
              </a:ext>
            </a:extLst>
          </p:cNvPr>
          <p:cNvCxnSpPr>
            <a:cxnSpLocks/>
          </p:cNvCxnSpPr>
          <p:nvPr/>
        </p:nvCxnSpPr>
        <p:spPr>
          <a:xfrm flipH="1" flipV="1">
            <a:off x="1604748" y="1470076"/>
            <a:ext cx="3097372" cy="78595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020D33A-7A0E-E7FA-E3C3-BEECAEFFB455}"/>
              </a:ext>
            </a:extLst>
          </p:cNvPr>
          <p:cNvSpPr/>
          <p:nvPr/>
        </p:nvSpPr>
        <p:spPr>
          <a:xfrm>
            <a:off x="5470677" y="2813573"/>
            <a:ext cx="2421246" cy="6358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5B880BA-4D65-D947-6E3B-649E41BD2DB4}"/>
              </a:ext>
            </a:extLst>
          </p:cNvPr>
          <p:cNvCxnSpPr>
            <a:cxnSpLocks/>
          </p:cNvCxnSpPr>
          <p:nvPr/>
        </p:nvCxnSpPr>
        <p:spPr>
          <a:xfrm flipH="1" flipV="1">
            <a:off x="1117196" y="1037662"/>
            <a:ext cx="4598" cy="34572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02BDDC5-E65C-1ED6-17AC-0BC92F038824}"/>
              </a:ext>
            </a:extLst>
          </p:cNvPr>
          <p:cNvCxnSpPr>
            <a:cxnSpLocks/>
            <a:endCxn id="27" idx="7"/>
          </p:cNvCxnSpPr>
          <p:nvPr/>
        </p:nvCxnSpPr>
        <p:spPr>
          <a:xfrm flipV="1">
            <a:off x="1127155" y="1620640"/>
            <a:ext cx="1313155" cy="213221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639FBA1F-9A21-1891-9742-890A4B966AB7}"/>
              </a:ext>
            </a:extLst>
          </p:cNvPr>
          <p:cNvSpPr/>
          <p:nvPr/>
        </p:nvSpPr>
        <p:spPr>
          <a:xfrm>
            <a:off x="1064511" y="3700357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EE9B33A-B179-8A48-9A17-F97F7932BC8B}"/>
              </a:ext>
            </a:extLst>
          </p:cNvPr>
          <p:cNvCxnSpPr>
            <a:cxnSpLocks/>
          </p:cNvCxnSpPr>
          <p:nvPr/>
        </p:nvCxnSpPr>
        <p:spPr>
          <a:xfrm flipV="1">
            <a:off x="382395" y="1435205"/>
            <a:ext cx="1264391" cy="210622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275ADAC5-E3E9-4F58-1079-BA22819BCE68}"/>
              </a:ext>
            </a:extLst>
          </p:cNvPr>
          <p:cNvSpPr/>
          <p:nvPr/>
        </p:nvSpPr>
        <p:spPr>
          <a:xfrm>
            <a:off x="336810" y="348393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27FE84C-D323-A22E-B26E-E90CA001EF48}"/>
              </a:ext>
            </a:extLst>
          </p:cNvPr>
          <p:cNvSpPr/>
          <p:nvPr/>
        </p:nvSpPr>
        <p:spPr>
          <a:xfrm>
            <a:off x="1572935" y="1409025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A536CDC-B911-87CC-B6A7-896E94C42116}"/>
              </a:ext>
            </a:extLst>
          </p:cNvPr>
          <p:cNvSpPr/>
          <p:nvPr/>
        </p:nvSpPr>
        <p:spPr>
          <a:xfrm>
            <a:off x="2346812" y="160442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E866CB7-550A-7121-2ED5-55D3D76FC6E7}"/>
              </a:ext>
            </a:extLst>
          </p:cNvPr>
          <p:cNvCxnSpPr>
            <a:cxnSpLocks/>
          </p:cNvCxnSpPr>
          <p:nvPr/>
        </p:nvCxnSpPr>
        <p:spPr>
          <a:xfrm flipV="1">
            <a:off x="4484202" y="2263959"/>
            <a:ext cx="197922" cy="36677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341763A-0E18-3D87-9568-6067C2BCF389}"/>
              </a:ext>
            </a:extLst>
          </p:cNvPr>
          <p:cNvCxnSpPr>
            <a:cxnSpLocks/>
          </p:cNvCxnSpPr>
          <p:nvPr/>
        </p:nvCxnSpPr>
        <p:spPr>
          <a:xfrm flipV="1">
            <a:off x="5137290" y="2263959"/>
            <a:ext cx="197922" cy="36677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B81E679E-35B8-999B-BE7A-1508C88604F2}"/>
              </a:ext>
            </a:extLst>
          </p:cNvPr>
          <p:cNvSpPr/>
          <p:nvPr/>
        </p:nvSpPr>
        <p:spPr>
          <a:xfrm>
            <a:off x="5277281" y="2202042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0836B47-00EF-9E5A-BAC0-4FF3F9660249}"/>
              </a:ext>
            </a:extLst>
          </p:cNvPr>
          <p:cNvSpPr/>
          <p:nvPr/>
        </p:nvSpPr>
        <p:spPr>
          <a:xfrm>
            <a:off x="4641495" y="2193850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88371AA-A5B5-C9F0-DE77-2B7F93DE30F4}"/>
              </a:ext>
            </a:extLst>
          </p:cNvPr>
          <p:cNvCxnSpPr>
            <a:cxnSpLocks/>
          </p:cNvCxnSpPr>
          <p:nvPr/>
        </p:nvCxnSpPr>
        <p:spPr>
          <a:xfrm>
            <a:off x="3480334" y="1672794"/>
            <a:ext cx="0" cy="26917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EC1ACC9-0A91-4DDB-0EE3-C043898C4FD1}"/>
              </a:ext>
            </a:extLst>
          </p:cNvPr>
          <p:cNvCxnSpPr>
            <a:cxnSpLocks/>
          </p:cNvCxnSpPr>
          <p:nvPr/>
        </p:nvCxnSpPr>
        <p:spPr>
          <a:xfrm>
            <a:off x="1131208" y="3032978"/>
            <a:ext cx="4213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원호 33">
            <a:extLst>
              <a:ext uri="{FF2B5EF4-FFF2-40B4-BE49-F238E27FC236}">
                <a16:creationId xmlns:a16="http://schemas.microsoft.com/office/drawing/2014/main" id="{4A7A9914-347E-FFD4-E974-95688234EA7A}"/>
              </a:ext>
            </a:extLst>
          </p:cNvPr>
          <p:cNvSpPr/>
          <p:nvPr/>
        </p:nvSpPr>
        <p:spPr>
          <a:xfrm>
            <a:off x="672227" y="3307722"/>
            <a:ext cx="900000" cy="900000"/>
          </a:xfrm>
          <a:prstGeom prst="arc">
            <a:avLst>
              <a:gd name="adj1" fmla="val 18144896"/>
              <a:gd name="adj2" fmla="val 21558778"/>
            </a:avLst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99400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75BF-2FF6-1BFB-0880-40954849D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8FFCE914-A516-CC92-0CB1-4019772B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Forward Kinematics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23E869-82F2-C97E-998D-C935412EAA30}"/>
              </a:ext>
            </a:extLst>
          </p:cNvPr>
          <p:cNvSpPr txBox="1"/>
          <p:nvPr/>
        </p:nvSpPr>
        <p:spPr>
          <a:xfrm>
            <a:off x="145825" y="717196"/>
            <a:ext cx="899817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void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Foward_Kinematics_Action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(double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input_base,double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input_boom,double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input_arm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  <a:endParaRPr lang="ko-KR" altLang="en-US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Foward_Kinematics_Calculator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input_base,input_boom,input_arm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각도에 따른 좌표 계산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anglemovementinset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input_base,input_boom,input_arm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각도 입력 및 이동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currentpositionshower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현재 좌표 출력</a:t>
            </a: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void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Foward_Kinematics_Calculator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(double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angle_base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double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angle_boom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double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angle_arm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//double boom_L1 = 12.0;//boom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길이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//double arm_L3 = 12.0;//arm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길이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//double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endeffectoroffset_wd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3.0;//arm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끝과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엔드이펙터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사이의 거리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radians(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각도 도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라디안 변환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radians(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각도 도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라디안 변환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x_boom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boom_L1*sin(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붐의 끝부분 평면 좌표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축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sin(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각도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)*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길이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boom_L1*cos(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)+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y_offset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붐의 끝부분 평면 좌표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축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cos(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각도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)*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길이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본체 높이 오프셋 길이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x_arm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x_boom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+(arm_L3*cos(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암의 끝부분 평면 좌표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축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cos(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암각도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)*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암 길이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좌표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y_boom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-(arm_L3*sin(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angle_arm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암의 끝부분 평면 좌표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축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sin(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암각도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)*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암 길이*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-1 +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좌표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()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세타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기준이라 반대로 이동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x_end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x_arm+endeffectoroffset_wd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최종 좌표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엔드이펙터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오프셋 거리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double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y_end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y_arm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최종 좌표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  <a:endParaRPr lang="ko-KR" altLang="en-US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699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Inverse Kinematics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/>
              <p:nvPr/>
            </p:nvSpPr>
            <p:spPr>
              <a:xfrm>
                <a:off x="4748312" y="1175025"/>
                <a:ext cx="3793061" cy="18255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b="0" i="1" dirty="0">
                    <a:latin typeface="Cambria Math" panose="02040503050406030204" pitchFamily="18" charset="0"/>
                  </a:rPr>
                  <a:t>1. second hyperbolic law of cosines</a:t>
                </a: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𝑏𝑐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𝑏𝑐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acos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𝑏𝑐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… 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①</a:t>
                </a:r>
                <a:endParaRPr lang="en-US" altLang="ko-KR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312" y="1175025"/>
                <a:ext cx="3793061" cy="1825564"/>
              </a:xfrm>
              <a:prstGeom prst="rect">
                <a:avLst/>
              </a:prstGeom>
              <a:blipFill>
                <a:blip r:embed="rId2"/>
                <a:stretch>
                  <a:fillRect l="-3859" t="-4682" b="-26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그룹 67"/>
          <p:cNvGrpSpPr/>
          <p:nvPr/>
        </p:nvGrpSpPr>
        <p:grpSpPr>
          <a:xfrm>
            <a:off x="1686079" y="699411"/>
            <a:ext cx="2152650" cy="2467363"/>
            <a:chOff x="1777518" y="802397"/>
            <a:chExt cx="2152650" cy="2467363"/>
          </a:xfrm>
        </p:grpSpPr>
        <p:sp>
          <p:nvSpPr>
            <p:cNvPr id="31" name="원호 30">
              <a:extLst>
                <a:ext uri="{FF2B5EF4-FFF2-40B4-BE49-F238E27FC236}">
                  <a16:creationId xmlns:a16="http://schemas.microsoft.com/office/drawing/2014/main" id="{A9945FDE-9AA1-A10C-AFDF-F734D57ADBC6}"/>
                </a:ext>
              </a:extLst>
            </p:cNvPr>
            <p:cNvSpPr/>
            <p:nvPr/>
          </p:nvSpPr>
          <p:spPr>
            <a:xfrm rot="2831516">
              <a:off x="2632063" y="802397"/>
              <a:ext cx="432000" cy="432000"/>
            </a:xfrm>
            <a:prstGeom prst="arc">
              <a:avLst>
                <a:gd name="adj1" fmla="val 788969"/>
                <a:gd name="adj2" fmla="val 4177769"/>
              </a:avLst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53" name="이등변 삼각형 52"/>
            <p:cNvSpPr/>
            <p:nvPr/>
          </p:nvSpPr>
          <p:spPr>
            <a:xfrm>
              <a:off x="1777518" y="1023601"/>
              <a:ext cx="2152650" cy="2019670"/>
            </a:xfrm>
            <a:prstGeom prst="triangl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/>
                <p:nvPr/>
              </p:nvSpPr>
              <p:spPr>
                <a:xfrm>
                  <a:off x="2767007" y="1253002"/>
                  <a:ext cx="1783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7007" y="1253002"/>
                  <a:ext cx="178318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27586" r="-24138" b="-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/>
                <p:nvPr/>
              </p:nvSpPr>
              <p:spPr>
                <a:xfrm>
                  <a:off x="2774699" y="3023539"/>
                  <a:ext cx="16530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4699" y="3023539"/>
                  <a:ext cx="165302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14815" r="-1481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/>
                <p:nvPr/>
              </p:nvSpPr>
              <p:spPr>
                <a:xfrm>
                  <a:off x="2060986" y="1924991"/>
                  <a:ext cx="14760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0986" y="1924991"/>
                  <a:ext cx="147605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16667" r="-1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/>
                <p:nvPr/>
              </p:nvSpPr>
              <p:spPr>
                <a:xfrm>
                  <a:off x="3441520" y="1906367"/>
                  <a:ext cx="16530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1520" y="1906367"/>
                  <a:ext cx="165302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29630" r="-25926" b="-7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/>
              <p:nvPr/>
            </p:nvSpPr>
            <p:spPr>
              <a:xfrm>
                <a:off x="4748312" y="4070625"/>
                <a:ext cx="3793061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i="1" dirty="0">
                    <a:latin typeface="Cambria Math" panose="02040503050406030204" pitchFamily="18" charset="0"/>
                  </a:rPr>
                  <a:t>2. Pythagoras' theorem</a:t>
                </a:r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 … 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②</a:t>
                </a:r>
                <a:endParaRPr lang="en-US" altLang="ko-KR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312" y="4070625"/>
                <a:ext cx="3793061" cy="830997"/>
              </a:xfrm>
              <a:prstGeom prst="rect">
                <a:avLst/>
              </a:prstGeom>
              <a:blipFill>
                <a:blip r:embed="rId7"/>
                <a:stretch>
                  <a:fillRect l="-3859" t="-10294" b="-16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/>
              <p:nvPr/>
            </p:nvSpPr>
            <p:spPr>
              <a:xfrm>
                <a:off x="3350081" y="4836843"/>
                <a:ext cx="16530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081" y="4836843"/>
                <a:ext cx="165302" cy="246221"/>
              </a:xfrm>
              <a:prstGeom prst="rect">
                <a:avLst/>
              </a:prstGeom>
              <a:blipFill>
                <a:blip r:embed="rId8"/>
                <a:stretch>
                  <a:fillRect l="-18519" r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/>
              <p:nvPr/>
            </p:nvSpPr>
            <p:spPr>
              <a:xfrm>
                <a:off x="2060300" y="4836844"/>
                <a:ext cx="14760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300" y="4836844"/>
                <a:ext cx="147605" cy="246221"/>
              </a:xfrm>
              <a:prstGeom prst="rect">
                <a:avLst/>
              </a:prstGeom>
              <a:blipFill>
                <a:blip r:embed="rId9"/>
                <a:stretch>
                  <a:fillRect l="-20833" r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/>
              <p:nvPr/>
            </p:nvSpPr>
            <p:spPr>
              <a:xfrm>
                <a:off x="3061871" y="5705701"/>
                <a:ext cx="16530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871" y="5705701"/>
                <a:ext cx="165302" cy="246221"/>
              </a:xfrm>
              <a:prstGeom prst="rect">
                <a:avLst/>
              </a:prstGeom>
              <a:blipFill>
                <a:blip r:embed="rId10"/>
                <a:stretch>
                  <a:fillRect l="-29630" r="-25926" b="-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각 삼각형 2"/>
          <p:cNvSpPr/>
          <p:nvPr/>
        </p:nvSpPr>
        <p:spPr>
          <a:xfrm>
            <a:off x="2235437" y="4226709"/>
            <a:ext cx="1853738" cy="1478992"/>
          </a:xfrm>
          <a:prstGeom prst="rtTriangl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BAD2688-8AFA-B21A-D34F-A769213285EE}"/>
              </a:ext>
            </a:extLst>
          </p:cNvPr>
          <p:cNvCxnSpPr>
            <a:cxnSpLocks/>
            <a:stCxn id="3" idx="0"/>
            <a:endCxn id="3" idx="4"/>
          </p:cNvCxnSpPr>
          <p:nvPr/>
        </p:nvCxnSpPr>
        <p:spPr>
          <a:xfrm>
            <a:off x="2235437" y="4226709"/>
            <a:ext cx="1853738" cy="1478992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116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그림 58">
            <a:extLst>
              <a:ext uri="{FF2B5EF4-FFF2-40B4-BE49-F238E27FC236}">
                <a16:creationId xmlns:a16="http://schemas.microsoft.com/office/drawing/2014/main" id="{E24FE1DD-8B4C-66F4-9AE8-B7861CECA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73195" y1="33021" x2="59091" y2="27874"/>
                        <a14:foregroundMark x1="61163" y1="25000" x2="64037" y2="25000"/>
                        <a14:foregroundMark x1="66979" y1="26337" x2="73730" y2="29746"/>
                        <a14:foregroundMark x1="43115" y1="53342" x2="43115" y2="53810"/>
                        <a14:foregroundMark x1="43115" y1="53810" x2="43115" y2="53810"/>
                        <a14:foregroundMark x1="42981" y1="53810" x2="42313" y2="53676"/>
                        <a14:foregroundMark x1="42714" y1="54612" x2="43917" y2="55548"/>
                        <a14:foregroundMark x1="43984" y1="55548" x2="45187" y2="56016"/>
                        <a14:foregroundMark x1="45521" y1="56217" x2="50201" y2="56818"/>
                        <a14:foregroundMark x1="52741" y1="56551" x2="55481" y2="56283"/>
                        <a14:backgroundMark x1="27406" y1="25401" x2="27406" y2="25401"/>
                        <a14:backgroundMark x1="12233" y1="22393" x2="12233" y2="22393"/>
                        <a14:backgroundMark x1="20922" y1="27874" x2="20922" y2="27874"/>
                        <a14:backgroundMark x1="21190" y1="39572" x2="21190" y2="39572"/>
                        <a14:backgroundMark x1="13703" y1="36364" x2="13703" y2="36364"/>
                        <a14:backgroundMark x1="17714" y1="45588" x2="17714" y2="45588"/>
                        <a14:backgroundMark x1="22193" y1="47527" x2="24866" y2="23930"/>
                        <a14:backgroundMark x1="14171" y1="24198" x2="16912" y2="51270"/>
                        <a14:backgroundMark x1="11230" y1="26872" x2="11430" y2="47527"/>
                        <a14:backgroundMark x1="24666" y1="42313" x2="19452" y2="81551"/>
                        <a14:backgroundMark x1="12834" y1="61765" x2="16711" y2="82888"/>
                        <a14:backgroundMark x1="12233" y1="76270" x2="11430" y2="78142"/>
                        <a14:backgroundMark x1="13302" y1="75334" x2="12099" y2="81551"/>
                        <a14:backgroundMark x1="11832" y1="72193" x2="19452" y2="78877"/>
                        <a14:backgroundMark x1="15842" y1="87366" x2="25134" y2="88102"/>
                        <a14:backgroundMark x1="16176" y1="85762" x2="14439" y2="87099"/>
                        <a14:backgroundMark x1="22259" y1="75334" x2="54880" y2="83757"/>
                        <a14:backgroundMark x1="30147" y1="67112" x2="56484" y2="72460"/>
                        <a14:backgroundMark x1="30749" y1="56016" x2="51738" y2="63837"/>
                        <a14:backgroundMark x1="31150" y1="60963" x2="34492" y2="65441"/>
                        <a14:backgroundMark x1="31350" y1="60227" x2="25000" y2="65842"/>
                        <a14:backgroundMark x1="29011" y1="50936" x2="28142" y2="54011"/>
                        <a14:backgroundMark x1="33088" y1="44920" x2="36965" y2="54679"/>
                        <a14:backgroundMark x1="38703" y1="53877" x2="52273" y2="60227"/>
                        <a14:backgroundMark x1="43583" y1="45922" x2="37567" y2="49666"/>
                        <a14:backgroundMark x1="51872" y1="57620" x2="69786" y2="62233"/>
                        <a14:backgroundMark x1="60094" y1="51136" x2="58088" y2="57888"/>
                        <a14:backgroundMark x1="60361" y1="61965" x2="60829" y2="76805"/>
                        <a14:backgroundMark x1="48730" y1="56952" x2="56083" y2="57152"/>
                        <a14:backgroundMark x1="56818" y1="52206" x2="55949" y2="49398"/>
                        <a14:backgroundMark x1="54345" y1="49799" x2="55348" y2="51404"/>
                        <a14:backgroundMark x1="54947" y1="53209" x2="54412" y2="51203"/>
                        <a14:backgroundMark x1="65107" y1="27340" x2="69920" y2="29746"/>
                        <a14:backgroundMark x1="54479" y1="30615" x2="50802" y2="35294"/>
                        <a14:backgroundMark x1="73061" y1="28008" x2="72193" y2="27406"/>
                        <a14:backgroundMark x1="71123" y1="26872" x2="73396" y2="28142"/>
                        <a14:backgroundMark x1="48663" y1="57219" x2="45588" y2="56818"/>
                        <a14:backgroundMark x1="52874" y1="56751" x2="55816" y2="56417"/>
                        <a14:backgroundMark x1="43917" y1="55615" x2="45521" y2="56283"/>
                        <a14:backgroundMark x1="45922" y1="56484" x2="48864" y2="56885"/>
                        <a14:backgroundMark x1="49866" y1="56885" x2="45856" y2="56350"/>
                        <a14:backgroundMark x1="50401" y1="56885" x2="49866" y2="56818"/>
                        <a14:backgroundMark x1="45388" y1="56283" x2="45922" y2="56350"/>
                      </a14:backgroundRemoval>
                    </a14:imgEffect>
                  </a14:imgLayer>
                </a14:imgProps>
              </a:ext>
            </a:extLst>
          </a:blip>
          <a:srcRect l="41885" t="23714" r="21349" b="42531"/>
          <a:stretch/>
        </p:blipFill>
        <p:spPr>
          <a:xfrm rot="21255573">
            <a:off x="-236791" y="1031520"/>
            <a:ext cx="5844926" cy="5366210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Inverse Kinematics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/>
              <p:nvPr/>
            </p:nvSpPr>
            <p:spPr>
              <a:xfrm>
                <a:off x="5497094" y="467966"/>
                <a:ext cx="3793061" cy="46917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𝐼𝑁𝑃𝑈𝑇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𝐶𝑂𝑂𝑅𝐷𝐼𝑁𝐴𝑇𝐸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𝑂𝑈𝑇𝑃𝑈𝑇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𝐴𝑁𝐺𝐿𝐸</m:t>
                      </m:r>
                    </m:oMath>
                  </m:oMathPara>
                </a14:m>
                <a:endParaRPr lang="ar-AE" altLang="ko-KR" sz="1600" dirty="0"/>
              </a:p>
              <a:p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altLang="ko-KR" sz="1600" dirty="0">
                    <a:latin typeface="Cambria Math" panose="02040503050406030204" pitchFamily="18" charset="0"/>
                  </a:rPr>
                  <a:t> … 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②</a:t>
                </a:r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𝑤𝑑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𝑤𝑑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sub>
                              </m:s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en-US" altLang="ko-KR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180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−(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94" y="467966"/>
                <a:ext cx="3793061" cy="4691797"/>
              </a:xfrm>
              <a:prstGeom prst="rect">
                <a:avLst/>
              </a:prstGeom>
              <a:blipFill>
                <a:blip r:embed="rId4"/>
                <a:stretch>
                  <a:fillRect l="-1929" b="-5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21968B53-848D-67A5-B978-4511973DFBE7}"/>
              </a:ext>
            </a:extLst>
          </p:cNvPr>
          <p:cNvSpPr/>
          <p:nvPr/>
        </p:nvSpPr>
        <p:spPr>
          <a:xfrm>
            <a:off x="5382798" y="4559392"/>
            <a:ext cx="2421246" cy="6358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25365D-7282-0322-04A3-8A99D8EF1171}"/>
                  </a:ext>
                </a:extLst>
              </p:cNvPr>
              <p:cNvSpPr txBox="1"/>
              <p:nvPr/>
            </p:nvSpPr>
            <p:spPr>
              <a:xfrm>
                <a:off x="1166341" y="3002060"/>
                <a:ext cx="2450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25365D-7282-0322-04A3-8A99D8EF1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341" y="3002060"/>
                <a:ext cx="245067" cy="246221"/>
              </a:xfrm>
              <a:prstGeom prst="rect">
                <a:avLst/>
              </a:prstGeom>
              <a:blipFill>
                <a:blip r:embed="rId5"/>
                <a:stretch>
                  <a:fillRect l="-19512" r="-4878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FC9163-67E2-3BE8-A0BB-20EB5C7F5660}"/>
                  </a:ext>
                </a:extLst>
              </p:cNvPr>
              <p:cNvSpPr txBox="1"/>
              <p:nvPr/>
            </p:nvSpPr>
            <p:spPr>
              <a:xfrm>
                <a:off x="2068579" y="2659485"/>
                <a:ext cx="27148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FC9163-67E2-3BE8-A0BB-20EB5C7F5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579" y="2659485"/>
                <a:ext cx="271484" cy="246221"/>
              </a:xfrm>
              <a:prstGeom prst="rect">
                <a:avLst/>
              </a:prstGeom>
              <a:blipFill>
                <a:blip r:embed="rId6"/>
                <a:stretch>
                  <a:fillRect l="-11111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A8C07F-8277-5D5D-BA0B-2E097AC02EFE}"/>
                  </a:ext>
                </a:extLst>
              </p:cNvPr>
              <p:cNvSpPr txBox="1"/>
              <p:nvPr/>
            </p:nvSpPr>
            <p:spPr>
              <a:xfrm>
                <a:off x="2379601" y="1375049"/>
                <a:ext cx="588751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A8C07F-8277-5D5D-BA0B-2E097AC02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601" y="1375049"/>
                <a:ext cx="588751" cy="265650"/>
              </a:xfrm>
              <a:prstGeom prst="rect">
                <a:avLst/>
              </a:prstGeom>
              <a:blipFill>
                <a:blip r:embed="rId7"/>
                <a:stretch>
                  <a:fillRect l="-5155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ABFE85-3A8A-B8D1-EC26-6225B4C157CF}"/>
                  </a:ext>
                </a:extLst>
              </p:cNvPr>
              <p:cNvSpPr txBox="1"/>
              <p:nvPr/>
            </p:nvSpPr>
            <p:spPr>
              <a:xfrm>
                <a:off x="3090977" y="1633371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ABFE85-3A8A-B8D1-EC26-6225B4C15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977" y="1633371"/>
                <a:ext cx="249812" cy="246221"/>
              </a:xfrm>
              <a:prstGeom prst="rect">
                <a:avLst/>
              </a:prstGeom>
              <a:blipFill>
                <a:blip r:embed="rId8"/>
                <a:stretch>
                  <a:fillRect l="-19512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14B207-9C69-13C5-D120-26D1197D6100}"/>
                  </a:ext>
                </a:extLst>
              </p:cNvPr>
              <p:cNvSpPr txBox="1"/>
              <p:nvPr/>
            </p:nvSpPr>
            <p:spPr>
              <a:xfrm>
                <a:off x="3274758" y="2132921"/>
                <a:ext cx="2762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14B207-9C69-13C5-D120-26D1197D6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758" y="2132921"/>
                <a:ext cx="276229" cy="246221"/>
              </a:xfrm>
              <a:prstGeom prst="rect">
                <a:avLst/>
              </a:prstGeom>
              <a:blipFill>
                <a:blip r:embed="rId9"/>
                <a:stretch>
                  <a:fillRect l="-1087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8A9F2E-B92F-111A-8633-EC98066D88EB}"/>
                  </a:ext>
                </a:extLst>
              </p:cNvPr>
              <p:cNvSpPr txBox="1"/>
              <p:nvPr/>
            </p:nvSpPr>
            <p:spPr>
              <a:xfrm>
                <a:off x="4814801" y="2003004"/>
                <a:ext cx="349583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8A9F2E-B92F-111A-8633-EC98066D8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801" y="2003004"/>
                <a:ext cx="349583" cy="246221"/>
              </a:xfrm>
              <a:prstGeom prst="rect">
                <a:avLst/>
              </a:prstGeom>
              <a:blipFill>
                <a:blip r:embed="rId10"/>
                <a:stretch>
                  <a:fillRect l="-10526" r="-7018" b="-7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A9E39-8A0F-3A7D-E01B-76AF620E50F6}"/>
              </a:ext>
            </a:extLst>
          </p:cNvPr>
          <p:cNvCxnSpPr>
            <a:cxnSpLocks/>
          </p:cNvCxnSpPr>
          <p:nvPr/>
        </p:nvCxnSpPr>
        <p:spPr>
          <a:xfrm flipH="1">
            <a:off x="4684894" y="2273603"/>
            <a:ext cx="5878" cy="147454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F92F651-58B3-9255-5723-87124F455B24}"/>
                  </a:ext>
                </a:extLst>
              </p:cNvPr>
              <p:cNvSpPr txBox="1"/>
              <p:nvPr/>
            </p:nvSpPr>
            <p:spPr>
              <a:xfrm>
                <a:off x="662842" y="3379648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F92F651-58B3-9255-5723-87124F455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42" y="3379648"/>
                <a:ext cx="249812" cy="246221"/>
              </a:xfrm>
              <a:prstGeom prst="rect">
                <a:avLst/>
              </a:prstGeom>
              <a:blipFill>
                <a:blip r:embed="rId11"/>
                <a:stretch>
                  <a:fillRect l="-19512" r="-7317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81F0D8B-B5FB-4180-AFA8-5B0A00E2B587}"/>
                  </a:ext>
                </a:extLst>
              </p:cNvPr>
              <p:cNvSpPr txBox="1"/>
              <p:nvPr/>
            </p:nvSpPr>
            <p:spPr>
              <a:xfrm>
                <a:off x="2377002" y="2132921"/>
                <a:ext cx="33637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81F0D8B-B5FB-4180-AFA8-5B0A00E2B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002" y="2132921"/>
                <a:ext cx="336374" cy="246221"/>
              </a:xfrm>
              <a:prstGeom prst="rect">
                <a:avLst/>
              </a:prstGeom>
              <a:blipFill>
                <a:blip r:embed="rId12"/>
                <a:stretch>
                  <a:fillRect l="-14545" r="-5455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BAAA796-F3CC-EE69-0DD3-78C69F350A26}"/>
                  </a:ext>
                </a:extLst>
              </p:cNvPr>
              <p:cNvSpPr txBox="1"/>
              <p:nvPr/>
            </p:nvSpPr>
            <p:spPr>
              <a:xfrm>
                <a:off x="1553908" y="3502938"/>
                <a:ext cx="260199" cy="26815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BAAA796-F3CC-EE69-0DD3-78C69F350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908" y="3502938"/>
                <a:ext cx="260199" cy="268150"/>
              </a:xfrm>
              <a:prstGeom prst="rect">
                <a:avLst/>
              </a:prstGeom>
              <a:blipFill>
                <a:blip r:embed="rId13"/>
                <a:stretch>
                  <a:fillRect l="-18605" r="-9302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6EDE05-5421-00D2-050B-489235F2F7B7}"/>
                  </a:ext>
                </a:extLst>
              </p:cNvPr>
              <p:cNvSpPr txBox="1"/>
              <p:nvPr/>
            </p:nvSpPr>
            <p:spPr>
              <a:xfrm>
                <a:off x="1457624" y="3244188"/>
                <a:ext cx="26238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6EDE05-5421-00D2-050B-489235F2F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624" y="3244188"/>
                <a:ext cx="262380" cy="246221"/>
              </a:xfrm>
              <a:prstGeom prst="rect">
                <a:avLst/>
              </a:prstGeom>
              <a:blipFill>
                <a:blip r:embed="rId14"/>
                <a:stretch>
                  <a:fillRect l="-18605" r="-2326" b="-9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/>
              <p:nvPr/>
            </p:nvSpPr>
            <p:spPr>
              <a:xfrm>
                <a:off x="1728289" y="3077081"/>
                <a:ext cx="250645" cy="265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289" y="3077081"/>
                <a:ext cx="250645" cy="265842"/>
              </a:xfrm>
              <a:prstGeom prst="rect">
                <a:avLst/>
              </a:prstGeom>
              <a:blipFill>
                <a:blip r:embed="rId17"/>
                <a:stretch>
                  <a:fillRect l="-19512" r="-7317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D1C509-C2E5-A02E-71D5-B5A83772A1F1}"/>
                  </a:ext>
                </a:extLst>
              </p:cNvPr>
              <p:cNvSpPr txBox="1"/>
              <p:nvPr/>
            </p:nvSpPr>
            <p:spPr>
              <a:xfrm>
                <a:off x="2967092" y="3042818"/>
                <a:ext cx="22083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D1C509-C2E5-A02E-71D5-B5A83772A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092" y="3042818"/>
                <a:ext cx="220830" cy="246221"/>
              </a:xfrm>
              <a:prstGeom prst="rect">
                <a:avLst/>
              </a:prstGeom>
              <a:blipFill>
                <a:blip r:embed="rId18"/>
                <a:stretch>
                  <a:fillRect l="-16667" r="-11111"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B152765-BFE5-568D-D871-5EBA17AA13B6}"/>
              </a:ext>
            </a:extLst>
          </p:cNvPr>
          <p:cNvCxnSpPr>
            <a:cxnSpLocks/>
          </p:cNvCxnSpPr>
          <p:nvPr/>
        </p:nvCxnSpPr>
        <p:spPr>
          <a:xfrm>
            <a:off x="1146820" y="1671166"/>
            <a:ext cx="36009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BAD2688-8AFA-B21A-D34F-A769213285EE}"/>
              </a:ext>
            </a:extLst>
          </p:cNvPr>
          <p:cNvCxnSpPr>
            <a:cxnSpLocks/>
          </p:cNvCxnSpPr>
          <p:nvPr/>
        </p:nvCxnSpPr>
        <p:spPr>
          <a:xfrm flipH="1" flipV="1">
            <a:off x="375239" y="3538486"/>
            <a:ext cx="741957" cy="20645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/>
              <p:nvPr/>
            </p:nvSpPr>
            <p:spPr>
              <a:xfrm>
                <a:off x="1707536" y="1701634"/>
                <a:ext cx="250645" cy="265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536" y="1701634"/>
                <a:ext cx="250645" cy="265842"/>
              </a:xfrm>
              <a:prstGeom prst="rect">
                <a:avLst/>
              </a:prstGeom>
              <a:blipFill>
                <a:blip r:embed="rId19"/>
                <a:stretch>
                  <a:fillRect l="-19512" r="-7317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2916EE-690F-7C17-8433-542E87C82FD2}"/>
                  </a:ext>
                </a:extLst>
              </p:cNvPr>
              <p:cNvSpPr txBox="1"/>
              <p:nvPr/>
            </p:nvSpPr>
            <p:spPr>
              <a:xfrm>
                <a:off x="3957937" y="2622125"/>
                <a:ext cx="615168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2916EE-690F-7C17-8433-542E87C82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937" y="2622125"/>
                <a:ext cx="615168" cy="265650"/>
              </a:xfrm>
              <a:prstGeom prst="rect">
                <a:avLst/>
              </a:prstGeom>
              <a:blipFill>
                <a:blip r:embed="rId20"/>
                <a:stretch>
                  <a:fillRect l="-4950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DA4849-155F-427B-E1DB-CF4BB72F9E7F}"/>
                  </a:ext>
                </a:extLst>
              </p:cNvPr>
              <p:cNvSpPr txBox="1"/>
              <p:nvPr/>
            </p:nvSpPr>
            <p:spPr>
              <a:xfrm>
                <a:off x="4692086" y="2622125"/>
                <a:ext cx="589905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DA4849-155F-427B-E1DB-CF4BB72F9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086" y="2622125"/>
                <a:ext cx="589905" cy="265650"/>
              </a:xfrm>
              <a:prstGeom prst="rect">
                <a:avLst/>
              </a:prstGeom>
              <a:blipFill>
                <a:blip r:embed="rId21"/>
                <a:stretch>
                  <a:fillRect l="-6250" r="-1042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302B648-DF13-F13A-A232-2E46919AC113}"/>
              </a:ext>
            </a:extLst>
          </p:cNvPr>
          <p:cNvCxnSpPr>
            <a:cxnSpLocks/>
          </p:cNvCxnSpPr>
          <p:nvPr/>
        </p:nvCxnSpPr>
        <p:spPr>
          <a:xfrm flipV="1">
            <a:off x="4484202" y="2263959"/>
            <a:ext cx="197922" cy="366773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0D7FD6B-858F-7A88-6B77-520C12551F31}"/>
              </a:ext>
            </a:extLst>
          </p:cNvPr>
          <p:cNvCxnSpPr>
            <a:cxnSpLocks/>
          </p:cNvCxnSpPr>
          <p:nvPr/>
        </p:nvCxnSpPr>
        <p:spPr>
          <a:xfrm flipV="1">
            <a:off x="5137290" y="2263959"/>
            <a:ext cx="197922" cy="366773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타원 46"/>
          <p:cNvSpPr/>
          <p:nvPr/>
        </p:nvSpPr>
        <p:spPr>
          <a:xfrm>
            <a:off x="5277281" y="2202042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7FF8F5B2-6D94-53D9-58F2-4DBF05CB901F}"/>
              </a:ext>
            </a:extLst>
          </p:cNvPr>
          <p:cNvGrpSpPr/>
          <p:nvPr/>
        </p:nvGrpSpPr>
        <p:grpSpPr>
          <a:xfrm>
            <a:off x="667646" y="3306313"/>
            <a:ext cx="900000" cy="900000"/>
            <a:chOff x="-88124" y="3530727"/>
            <a:chExt cx="504000" cy="504000"/>
          </a:xfrm>
        </p:grpSpPr>
        <p:sp>
          <p:nvSpPr>
            <p:cNvPr id="53" name="원호 52">
              <a:extLst>
                <a:ext uri="{FF2B5EF4-FFF2-40B4-BE49-F238E27FC236}">
                  <a16:creationId xmlns:a16="http://schemas.microsoft.com/office/drawing/2014/main" id="{C226388F-1228-EC6F-DF49-51C9AE5FC671}"/>
                </a:ext>
              </a:extLst>
            </p:cNvPr>
            <p:cNvSpPr/>
            <p:nvPr/>
          </p:nvSpPr>
          <p:spPr>
            <a:xfrm>
              <a:off x="-88124" y="3530727"/>
              <a:ext cx="504000" cy="504000"/>
            </a:xfrm>
            <a:prstGeom prst="arc">
              <a:avLst>
                <a:gd name="adj1" fmla="val 20299036"/>
                <a:gd name="adj2" fmla="val 11736"/>
              </a:avLst>
            </a:prstGeom>
            <a:ln w="28575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57" name="원호 56">
              <a:extLst>
                <a:ext uri="{FF2B5EF4-FFF2-40B4-BE49-F238E27FC236}">
                  <a16:creationId xmlns:a16="http://schemas.microsoft.com/office/drawing/2014/main" id="{D141638B-F4BA-5CCF-CE06-02102A0D0FDA}"/>
                </a:ext>
              </a:extLst>
            </p:cNvPr>
            <p:cNvSpPr/>
            <p:nvPr/>
          </p:nvSpPr>
          <p:spPr>
            <a:xfrm>
              <a:off x="-88124" y="3530727"/>
              <a:ext cx="504000" cy="504000"/>
            </a:xfrm>
            <a:prstGeom prst="arc">
              <a:avLst>
                <a:gd name="adj1" fmla="val 18137402"/>
                <a:gd name="adj2" fmla="val 20281197"/>
              </a:avLst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</p:grpSp>
      <p:sp>
        <p:nvSpPr>
          <p:cNvPr id="58" name="원호 57">
            <a:extLst>
              <a:ext uri="{FF2B5EF4-FFF2-40B4-BE49-F238E27FC236}">
                <a16:creationId xmlns:a16="http://schemas.microsoft.com/office/drawing/2014/main" id="{EAE2D73F-0763-DBA1-6827-80B2F3586602}"/>
              </a:ext>
            </a:extLst>
          </p:cNvPr>
          <p:cNvSpPr/>
          <p:nvPr/>
        </p:nvSpPr>
        <p:spPr>
          <a:xfrm>
            <a:off x="669847" y="3307723"/>
            <a:ext cx="900000" cy="900000"/>
          </a:xfrm>
          <a:prstGeom prst="arc">
            <a:avLst>
              <a:gd name="adj1" fmla="val 16248765"/>
              <a:gd name="adj2" fmla="val 18141366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4247087-F6A7-0302-0966-1C6FA23940E2}"/>
              </a:ext>
            </a:extLst>
          </p:cNvPr>
          <p:cNvGrpSpPr/>
          <p:nvPr/>
        </p:nvGrpSpPr>
        <p:grpSpPr>
          <a:xfrm>
            <a:off x="399666" y="3037626"/>
            <a:ext cx="1440000" cy="1440000"/>
            <a:chOff x="399460" y="3037354"/>
            <a:chExt cx="1440000" cy="1440000"/>
          </a:xfrm>
        </p:grpSpPr>
        <p:sp>
          <p:nvSpPr>
            <p:cNvPr id="75" name="원호 74">
              <a:extLst>
                <a:ext uri="{FF2B5EF4-FFF2-40B4-BE49-F238E27FC236}">
                  <a16:creationId xmlns:a16="http://schemas.microsoft.com/office/drawing/2014/main" id="{B7557037-B9C5-5B58-3C59-69943C6BE094}"/>
                </a:ext>
              </a:extLst>
            </p:cNvPr>
            <p:cNvSpPr/>
            <p:nvPr/>
          </p:nvSpPr>
          <p:spPr>
            <a:xfrm>
              <a:off x="669849" y="3291055"/>
              <a:ext cx="900000" cy="900000"/>
            </a:xfrm>
            <a:prstGeom prst="arc">
              <a:avLst>
                <a:gd name="adj1" fmla="val 10696490"/>
                <a:gd name="adj2" fmla="val 11691091"/>
              </a:avLst>
            </a:prstGeom>
            <a:ln w="285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76" name="원호 75">
              <a:extLst>
                <a:ext uri="{FF2B5EF4-FFF2-40B4-BE49-F238E27FC236}">
                  <a16:creationId xmlns:a16="http://schemas.microsoft.com/office/drawing/2014/main" id="{2EE939A3-4594-1E64-DA35-F085419E232C}"/>
                </a:ext>
              </a:extLst>
            </p:cNvPr>
            <p:cNvSpPr/>
            <p:nvPr/>
          </p:nvSpPr>
          <p:spPr>
            <a:xfrm>
              <a:off x="399460" y="3037354"/>
              <a:ext cx="1440000" cy="1440000"/>
            </a:xfrm>
            <a:prstGeom prst="arc">
              <a:avLst>
                <a:gd name="adj1" fmla="val 18149478"/>
                <a:gd name="adj2" fmla="val 8456"/>
              </a:avLst>
            </a:prstGeom>
            <a:ln w="28575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 dirty="0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D3BA544-9E63-850F-717B-B11D5FECAADB}"/>
              </a:ext>
            </a:extLst>
          </p:cNvPr>
          <p:cNvGrpSpPr/>
          <p:nvPr/>
        </p:nvGrpSpPr>
        <p:grpSpPr>
          <a:xfrm>
            <a:off x="1952231" y="1226150"/>
            <a:ext cx="900000" cy="900000"/>
            <a:chOff x="2538546" y="2320860"/>
            <a:chExt cx="900000" cy="900000"/>
          </a:xfrm>
        </p:grpSpPr>
        <p:sp>
          <p:nvSpPr>
            <p:cNvPr id="78" name="원호 77">
              <a:extLst>
                <a:ext uri="{FF2B5EF4-FFF2-40B4-BE49-F238E27FC236}">
                  <a16:creationId xmlns:a16="http://schemas.microsoft.com/office/drawing/2014/main" id="{F848B333-94F7-50C2-F230-1F25EE39C6BB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21571423"/>
                <a:gd name="adj2" fmla="val 871007"/>
              </a:avLst>
            </a:prstGeom>
            <a:ln w="285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79" name="원호 78">
              <a:extLst>
                <a:ext uri="{FF2B5EF4-FFF2-40B4-BE49-F238E27FC236}">
                  <a16:creationId xmlns:a16="http://schemas.microsoft.com/office/drawing/2014/main" id="{45432C0A-C6C6-AFF0-6313-626915C5B700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7249679"/>
                <a:gd name="adj2" fmla="val 10851286"/>
              </a:avLst>
            </a:prstGeom>
            <a:ln w="28575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 dirty="0"/>
            </a:p>
          </p:txBody>
        </p:sp>
        <p:sp>
          <p:nvSpPr>
            <p:cNvPr id="80" name="원호 79">
              <a:extLst>
                <a:ext uri="{FF2B5EF4-FFF2-40B4-BE49-F238E27FC236}">
                  <a16:creationId xmlns:a16="http://schemas.microsoft.com/office/drawing/2014/main" id="{48F22E00-20D6-1A46-F430-AF958FBCE0D0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887394"/>
                <a:gd name="adj2" fmla="val 7305351"/>
              </a:avLst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BAD2688-8AFA-B21A-D34F-A769213285EE}"/>
              </a:ext>
            </a:extLst>
          </p:cNvPr>
          <p:cNvCxnSpPr>
            <a:cxnSpLocks/>
          </p:cNvCxnSpPr>
          <p:nvPr/>
        </p:nvCxnSpPr>
        <p:spPr>
          <a:xfrm flipH="1" flipV="1">
            <a:off x="1604748" y="1470076"/>
            <a:ext cx="3097372" cy="78595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CAD24F3-6134-FB3E-C843-6D01DC789942}"/>
              </a:ext>
            </a:extLst>
          </p:cNvPr>
          <p:cNvCxnSpPr>
            <a:cxnSpLocks/>
          </p:cNvCxnSpPr>
          <p:nvPr/>
        </p:nvCxnSpPr>
        <p:spPr>
          <a:xfrm flipV="1">
            <a:off x="1127516" y="2261731"/>
            <a:ext cx="3563256" cy="149682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2B36EF7-E822-B787-8D4F-0BE1E37ECCDE}"/>
              </a:ext>
            </a:extLst>
          </p:cNvPr>
          <p:cNvCxnSpPr>
            <a:cxnSpLocks/>
          </p:cNvCxnSpPr>
          <p:nvPr/>
        </p:nvCxnSpPr>
        <p:spPr>
          <a:xfrm>
            <a:off x="451154" y="3758558"/>
            <a:ext cx="4479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6287262-C987-0F37-984F-FB9E2B41E665}"/>
              </a:ext>
            </a:extLst>
          </p:cNvPr>
          <p:cNvCxnSpPr>
            <a:cxnSpLocks/>
          </p:cNvCxnSpPr>
          <p:nvPr/>
        </p:nvCxnSpPr>
        <p:spPr>
          <a:xfrm flipH="1" flipV="1">
            <a:off x="1117196" y="1037662"/>
            <a:ext cx="4598" cy="34572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A74F61A9-86DD-196D-2B70-597A2F94F942}"/>
              </a:ext>
            </a:extLst>
          </p:cNvPr>
          <p:cNvCxnSpPr>
            <a:cxnSpLocks/>
          </p:cNvCxnSpPr>
          <p:nvPr/>
        </p:nvCxnSpPr>
        <p:spPr>
          <a:xfrm flipV="1">
            <a:off x="382395" y="1435205"/>
            <a:ext cx="1264391" cy="210622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74F61A9-86DD-196D-2B70-597A2F94F942}"/>
              </a:ext>
            </a:extLst>
          </p:cNvPr>
          <p:cNvCxnSpPr>
            <a:cxnSpLocks/>
            <a:endCxn id="54" idx="7"/>
          </p:cNvCxnSpPr>
          <p:nvPr/>
        </p:nvCxnSpPr>
        <p:spPr>
          <a:xfrm flipV="1">
            <a:off x="1133313" y="1643725"/>
            <a:ext cx="1313155" cy="213221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336810" y="348393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/>
          <p:cNvSpPr/>
          <p:nvPr/>
        </p:nvSpPr>
        <p:spPr>
          <a:xfrm>
            <a:off x="1064511" y="3700357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4641495" y="2193850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/>
          <p:cNvSpPr/>
          <p:nvPr/>
        </p:nvSpPr>
        <p:spPr>
          <a:xfrm>
            <a:off x="1572935" y="1409025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/>
          <p:cNvSpPr/>
          <p:nvPr/>
        </p:nvSpPr>
        <p:spPr>
          <a:xfrm>
            <a:off x="2352970" y="1627513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22628662-C783-21D8-D8EC-118BE42DFECC}"/>
              </a:ext>
            </a:extLst>
          </p:cNvPr>
          <p:cNvCxnSpPr>
            <a:cxnSpLocks/>
          </p:cNvCxnSpPr>
          <p:nvPr/>
        </p:nvCxnSpPr>
        <p:spPr>
          <a:xfrm flipH="1">
            <a:off x="4652843" y="2256032"/>
            <a:ext cx="668392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EF245909-B931-C56F-4AF2-50FCE16794E0}"/>
              </a:ext>
            </a:extLst>
          </p:cNvPr>
          <p:cNvCxnSpPr>
            <a:cxnSpLocks/>
          </p:cNvCxnSpPr>
          <p:nvPr/>
        </p:nvCxnSpPr>
        <p:spPr>
          <a:xfrm>
            <a:off x="3480334" y="1672794"/>
            <a:ext cx="0" cy="26917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573475AA-B50A-DB6D-8F6C-4A92F728821A}"/>
              </a:ext>
            </a:extLst>
          </p:cNvPr>
          <p:cNvCxnSpPr>
            <a:cxnSpLocks/>
          </p:cNvCxnSpPr>
          <p:nvPr/>
        </p:nvCxnSpPr>
        <p:spPr>
          <a:xfrm>
            <a:off x="1131208" y="3032978"/>
            <a:ext cx="4213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A38EE3CD-334F-EBF2-473A-2F40CEBCF62B}"/>
              </a:ext>
            </a:extLst>
          </p:cNvPr>
          <p:cNvCxnSpPr>
            <a:cxnSpLocks/>
          </p:cNvCxnSpPr>
          <p:nvPr/>
        </p:nvCxnSpPr>
        <p:spPr>
          <a:xfrm flipV="1">
            <a:off x="454550" y="3569688"/>
            <a:ext cx="0" cy="17525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867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>
            <a:extLst>
              <a:ext uri="{FF2B5EF4-FFF2-40B4-BE49-F238E27FC236}">
                <a16:creationId xmlns:a16="http://schemas.microsoft.com/office/drawing/2014/main" id="{D23D24C2-7662-3B60-592E-2BD0560C0E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730" y1="46658" x2="48730" y2="46791"/>
                        <a14:foregroundMark x1="48997" y1="47460" x2="48997" y2="47460"/>
                        <a14:foregroundMark x1="50735" y1="50668" x2="50735" y2="50668"/>
                        <a14:foregroundMark x1="50401" y1="50602" x2="50401" y2="50602"/>
                        <a14:foregroundMark x1="49265" y1="50535" x2="48930" y2="50468"/>
                        <a14:foregroundMark x1="47727" y1="50201" x2="46992" y2="50000"/>
                        <a14:foregroundMark x1="46992" y1="50000" x2="46992" y2="50000"/>
                        <a14:foregroundMark x1="46324" y1="50735" x2="46324" y2="50735"/>
                        <a14:foregroundMark x1="45655" y1="51471" x2="45655" y2="51471"/>
                        <a14:foregroundMark x1="45722" y1="51872" x2="45722" y2="52406"/>
                        <a14:foregroundMark x1="45989" y1="52741" x2="45989" y2="52741"/>
                        <a14:foregroundMark x1="47193" y1="54947" x2="47193" y2="54947"/>
                        <a14:foregroundMark x1="46123" y1="56016" x2="46123" y2="56016"/>
                        <a14:foregroundMark x1="60231" y1="37012" x2="62968" y2="35495"/>
                        <a14:foregroundMark x1="59255" y1="37553" x2="60194" y2="37032"/>
                        <a14:foregroundMark x1="51270" y1="41979" x2="59084" y2="37648"/>
                        <a14:foregroundMark x1="62299" y1="36698" x2="70655" y2="46190"/>
                        <a14:foregroundMark x1="73061" y1="43850" x2="65508" y2="34225"/>
                        <a14:foregroundMark x1="65508" y1="34225" x2="64973" y2="33824"/>
                        <a14:foregroundMark x1="72126" y1="44920" x2="72126" y2="44920"/>
                        <a14:foregroundMark x1="47326" y1="39104" x2="47326" y2="39104"/>
                        <a14:foregroundMark x1="46591" y1="40642" x2="46591" y2="40642"/>
                        <a14:foregroundMark x1="46524" y1="41578" x2="46524" y2="41578"/>
                        <a14:foregroundMark x1="47527" y1="43249" x2="47527" y2="43249"/>
                        <a14:foregroundMark x1="53209" y1="47995" x2="53209" y2="47995"/>
                        <a14:foregroundMark x1="52741" y1="46658" x2="52741" y2="46658"/>
                        <a14:foregroundMark x1="52874" y1="44920" x2="52874" y2="44920"/>
                        <a14:foregroundMark x1="52807" y1="45789" x2="52807" y2="45789"/>
                        <a14:foregroundMark x1="50602" y1="51203" x2="50936" y2="53877"/>
                        <a14:foregroundMark x1="53944" y1="57019" x2="50393" y2="57078"/>
                        <a14:foregroundMark x1="44652" y1="55816" x2="44385" y2="55749"/>
                        <a14:foregroundMark x1="44452" y1="55481" x2="44986" y2="56180"/>
                        <a14:foregroundMark x1="57353" y1="34225" x2="51604" y2="37233"/>
                        <a14:foregroundMark x1="56411" y1="36408" x2="51471" y2="38168"/>
                        <a14:foregroundMark x1="49599" y1="57420" x2="49599" y2="57420"/>
                        <a14:foregroundMark x1="49131" y1="57420" x2="49064" y2="57420"/>
                        <a14:foregroundMark x1="48329" y1="57219" x2="48329" y2="57219"/>
                        <a14:foregroundMark x1="47794" y1="57152" x2="47794" y2="57152"/>
                        <a14:foregroundMark x1="47594" y1="57086" x2="47594" y2="57086"/>
                        <a14:foregroundMark x1="47259" y1="57019" x2="47126" y2="57019"/>
                        <a14:foregroundMark x1="47059" y1="57019" x2="47059" y2="57019"/>
                        <a14:foregroundMark x1="46725" y1="57019" x2="46591" y2="56952"/>
                        <a14:foregroundMark x1="46524" y1="56952" x2="46390" y2="56952"/>
                        <a14:foregroundMark x1="46190" y1="56885" x2="46123" y2="56885"/>
                        <a14:foregroundMark x1="45922" y1="56885" x2="45722" y2="56885"/>
                        <a14:foregroundMark x1="45455" y1="56818" x2="45455" y2="56818"/>
                        <a14:foregroundMark x1="45588" y1="56885" x2="45588" y2="56885"/>
                        <a14:foregroundMark x1="53209" y1="52540" x2="53209" y2="52540"/>
                        <a14:foregroundMark x1="53810" y1="52674" x2="53810" y2="52674"/>
                        <a14:foregroundMark x1="54078" y1="53075" x2="54078" y2="53075"/>
                        <a14:foregroundMark x1="54211" y1="53810" x2="54211" y2="53810"/>
                        <a14:foregroundMark x1="55281" y1="56083" x2="55281" y2="56083"/>
                        <a14:foregroundMark x1="55615" y1="55682" x2="55615" y2="55682"/>
                        <a14:foregroundMark x1="55348" y1="55348" x2="55348" y2="55348"/>
                        <a14:foregroundMark x1="55749" y1="57086" x2="55749" y2="57086"/>
                        <a14:foregroundMark x1="55013" y1="57152" x2="55013" y2="57152"/>
                        <a14:foregroundMark x1="55481" y1="55080" x2="55481" y2="55080"/>
                        <a14:backgroundMark x1="21324" y1="31684" x2="17714" y2="39171"/>
                        <a14:backgroundMark x1="17714" y1="39171" x2="19987" y2="46257"/>
                        <a14:backgroundMark x1="19987" y1="46257" x2="21056" y2="45655"/>
                        <a14:backgroundMark x1="16644" y1="35495" x2="16043" y2="36230"/>
                        <a14:backgroundMark x1="13636" y1="38503" x2="13636" y2="38503"/>
                        <a14:backgroundMark x1="12032" y1="38302" x2="12032" y2="37701"/>
                        <a14:backgroundMark x1="12032" y1="37233" x2="12032" y2="37233"/>
                        <a14:backgroundMark x1="12901" y1="37634" x2="12901" y2="37634"/>
                        <a14:backgroundMark x1="15107" y1="36297" x2="15107" y2="36297"/>
                        <a14:backgroundMark x1="21123" y1="37032" x2="21123" y2="37032"/>
                        <a14:backgroundMark x1="21658" y1="36430" x2="21658" y2="36430"/>
                        <a14:backgroundMark x1="21725" y1="36765" x2="20521" y2="38636"/>
                        <a14:backgroundMark x1="18717" y1="40040" x2="18449" y2="40307"/>
                        <a14:backgroundMark x1="17045" y1="41043" x2="16110" y2="41979"/>
                        <a14:backgroundMark x1="14840" y1="42914" x2="14773" y2="43249"/>
                        <a14:backgroundMark x1="14706" y1="43783" x2="14572" y2="44652"/>
                        <a14:backgroundMark x1="14572" y1="45989" x2="14505" y2="47527"/>
                        <a14:backgroundMark x1="14505" y1="48262" x2="14439" y2="48797"/>
                        <a14:backgroundMark x1="14439" y1="49198" x2="14439" y2="49799"/>
                        <a14:backgroundMark x1="14439" y1="50000" x2="14372" y2="50535"/>
                        <a14:backgroundMark x1="14372" y1="50668" x2="14372" y2="50668"/>
                        <a14:backgroundMark x1="22460" y1="40642" x2="22594" y2="40441"/>
                        <a14:backgroundMark x1="24265" y1="38503" x2="24265" y2="38235"/>
                        <a14:backgroundMark x1="24131" y1="36832" x2="23730" y2="35695"/>
                        <a14:backgroundMark x1="19987" y1="32019" x2="19251" y2="31684"/>
                        <a14:backgroundMark x1="17647" y1="67580" x2="17246" y2="69118"/>
                        <a14:backgroundMark x1="26270" y1="72794" x2="28008" y2="74131"/>
                        <a14:backgroundMark x1="33356" y1="75468" x2="37634" y2="77741"/>
                        <a14:backgroundMark x1="37634" y1="77741" x2="37634" y2="77741"/>
                        <a14:backgroundMark x1="41444" y1="77741" x2="41711" y2="77741"/>
                        <a14:backgroundMark x1="48930" y1="78142" x2="49398" y2="78209"/>
                        <a14:backgroundMark x1="51003" y1="77473" x2="50735" y2="76805"/>
                        <a14:backgroundMark x1="47326" y1="75468" x2="45254" y2="75468"/>
                        <a14:backgroundMark x1="42112" y1="75067" x2="40307" y2="75067"/>
                        <a14:backgroundMark x1="39372" y1="75067" x2="37767" y2="75735"/>
                        <a14:backgroundMark x1="36765" y1="76203" x2="34693" y2="79278"/>
                        <a14:backgroundMark x1="34693" y1="79278" x2="34693" y2="79278"/>
                        <a14:backgroundMark x1="33556" y1="80816" x2="32888" y2="82553"/>
                        <a14:backgroundMark x1="67580" y1="66578" x2="34358" y2="70254"/>
                        <a14:backgroundMark x1="34358" y1="70254" x2="27005" y2="74599"/>
                        <a14:backgroundMark x1="57286" y1="83824" x2="56016" y2="83422"/>
                        <a14:backgroundMark x1="53075" y1="81818" x2="49198" y2="81751"/>
                        <a14:backgroundMark x1="49198" y1="81751" x2="49198" y2="81751"/>
                        <a14:backgroundMark x1="38503" y1="81818" x2="36497" y2="82019"/>
                        <a14:backgroundMark x1="36230" y1="82019" x2="35294" y2="82420"/>
                        <a14:backgroundMark x1="29880" y1="83422" x2="27674" y2="83556"/>
                        <a14:backgroundMark x1="25535" y1="82888" x2="25535" y2="82888"/>
                        <a14:backgroundMark x1="23930" y1="78342" x2="23930" y2="76070"/>
                        <a14:backgroundMark x1="23529" y1="72727" x2="24064" y2="69987"/>
                        <a14:backgroundMark x1="24733" y1="68048" x2="24733" y2="67112"/>
                        <a14:backgroundMark x1="23997" y1="63703" x2="22928" y2="62968"/>
                        <a14:backgroundMark x1="21257" y1="62233" x2="19385" y2="63369"/>
                        <a14:backgroundMark x1="17246" y1="67447" x2="18850" y2="71190"/>
                        <a14:backgroundMark x1="29612" y1="75668" x2="35762" y2="78008"/>
                        <a14:backgroundMark x1="35762" y1="78008" x2="35762" y2="78008"/>
                        <a14:backgroundMark x1="39572" y1="75401" x2="36497" y2="70053"/>
                        <a14:backgroundMark x1="36497" y1="70053" x2="36497" y2="70053"/>
                        <a14:backgroundMark x1="25067" y1="62968" x2="19987" y2="62901"/>
                        <a14:backgroundMark x1="19987" y1="62901" x2="18182" y2="63503"/>
                        <a14:backgroundMark x1="16912" y1="65040" x2="17246" y2="69786"/>
                        <a14:backgroundMark x1="17246" y1="69786" x2="17246" y2="69786"/>
                        <a14:backgroundMark x1="23061" y1="72794" x2="26337" y2="74733"/>
                        <a14:backgroundMark x1="26337" y1="74733" x2="26337" y2="74733"/>
                        <a14:backgroundMark x1="32553" y1="74131" x2="32888" y2="73864"/>
                        <a14:backgroundMark x1="35027" y1="70722" x2="34358" y2="69118"/>
                        <a14:backgroundMark x1="26270" y1="63837" x2="20120" y2="63436"/>
                        <a14:backgroundMark x1="16110" y1="63035" x2="15642" y2="63503"/>
                        <a14:backgroundMark x1="13770" y1="69318" x2="14639" y2="73864"/>
                        <a14:backgroundMark x1="14639" y1="73864" x2="14639" y2="73864"/>
                        <a14:backgroundMark x1="17179" y1="77340" x2="19920" y2="80214"/>
                        <a14:backgroundMark x1="25802" y1="83088" x2="30281" y2="84960"/>
                        <a14:backgroundMark x1="30281" y1="84960" x2="30281" y2="84960"/>
                        <a14:backgroundMark x1="33222" y1="84826" x2="33222" y2="84826"/>
                        <a14:backgroundMark x1="35094" y1="80682" x2="29211" y2="73463"/>
                        <a14:backgroundMark x1="13636" y1="64505" x2="12834" y2="63503"/>
                        <a14:backgroundMark x1="12500" y1="62767" x2="12500" y2="62767"/>
                        <a14:backgroundMark x1="13636" y1="62299" x2="14305" y2="62701"/>
                        <a14:backgroundMark x1="15642" y1="63436" x2="15642" y2="63436"/>
                        <a14:backgroundMark x1="15775" y1="64037" x2="15775" y2="64305"/>
                        <a14:backgroundMark x1="15909" y1="66377" x2="15909" y2="67714"/>
                        <a14:backgroundMark x1="15909" y1="69118" x2="16110" y2="70922"/>
                        <a14:backgroundMark x1="16578" y1="72460" x2="17045" y2="74332"/>
                        <a14:backgroundMark x1="17848" y1="76404" x2="18516" y2="78476"/>
                        <a14:backgroundMark x1="19519" y1="80013" x2="20789" y2="81417"/>
                        <a14:backgroundMark x1="23997" y1="83155" x2="26537" y2="85027"/>
                        <a14:backgroundMark x1="35762" y1="86497" x2="39706" y2="87901"/>
                        <a14:backgroundMark x1="39706" y1="87901" x2="39706" y2="87901"/>
                        <a14:backgroundMark x1="46257" y1="88570" x2="46257" y2="88570"/>
                        <a14:backgroundMark x1="38570" y1="86765" x2="28476" y2="85628"/>
                        <a14:backgroundMark x1="19719" y1="81818" x2="18850" y2="81083"/>
                        <a14:backgroundMark x1="15909" y1="78342" x2="15374" y2="77340"/>
                        <a14:backgroundMark x1="14639" y1="75401" x2="14505" y2="74799"/>
                        <a14:backgroundMark x1="14639" y1="72928" x2="14706" y2="72527"/>
                        <a14:backgroundMark x1="14773" y1="71791" x2="15107" y2="70856"/>
                        <a14:backgroundMark x1="15842" y1="68717" x2="15842" y2="66578"/>
                        <a14:backgroundMark x1="15842" y1="64773" x2="15842" y2="64104"/>
                        <a14:backgroundMark x1="15842" y1="62567" x2="15441" y2="61096"/>
                        <a14:backgroundMark x1="15374" y1="59358" x2="15374" y2="59358"/>
                        <a14:backgroundMark x1="15307" y1="59291" x2="14773" y2="63636"/>
                        <a14:backgroundMark x1="14773" y1="63636" x2="14773" y2="63636"/>
                        <a14:backgroundMark x1="14773" y1="68382" x2="14906" y2="70989"/>
                        <a14:backgroundMark x1="15307" y1="76872" x2="15307" y2="78342"/>
                        <a14:backgroundMark x1="15775" y1="79078" x2="15775" y2="79078"/>
                        <a14:backgroundMark x1="19920" y1="74532" x2="19920" y2="71992"/>
                        <a14:backgroundMark x1="19519" y1="68850" x2="19184" y2="67781"/>
                        <a14:backgroundMark x1="18516" y1="61898" x2="18382" y2="61430"/>
                        <a14:backgroundMark x1="19385" y1="59358" x2="20187" y2="57754"/>
                        <a14:backgroundMark x1="23061" y1="55281" x2="23596" y2="55281"/>
                        <a14:backgroundMark x1="28743" y1="55682" x2="29947" y2="55949"/>
                        <a14:backgroundMark x1="34358" y1="55548" x2="34693" y2="55682"/>
                        <a14:backgroundMark x1="35361" y1="55682" x2="35361" y2="55682"/>
                        <a14:backgroundMark x1="35294" y1="57019" x2="35160" y2="57687"/>
                        <a14:backgroundMark x1="35294" y1="57955" x2="35963" y2="58155"/>
                        <a14:backgroundMark x1="37433" y1="58289" x2="37433" y2="58623"/>
                        <a14:backgroundMark x1="37433" y1="58623" x2="37299" y2="59091"/>
                        <a14:backgroundMark x1="37299" y1="59091" x2="37299" y2="58824"/>
                        <a14:backgroundMark x1="37366" y1="55281" x2="37166" y2="54144"/>
                        <a14:backgroundMark x1="36965" y1="53743" x2="36297" y2="54345"/>
                        <a14:backgroundMark x1="34893" y1="55214" x2="34425" y2="55281"/>
                        <a14:backgroundMark x1="34492" y1="54144" x2="34826" y2="53409"/>
                        <a14:backgroundMark x1="37366" y1="51872" x2="38035" y2="51604"/>
                        <a14:backgroundMark x1="41176" y1="50000" x2="41176" y2="50000"/>
                        <a14:backgroundMark x1="41243" y1="49866" x2="40508" y2="49532"/>
                        <a14:backgroundMark x1="39840" y1="48864" x2="38971" y2="47393"/>
                        <a14:backgroundMark x1="38770" y1="47126" x2="37834" y2="46658"/>
                        <a14:backgroundMark x1="37366" y1="46457" x2="36898" y2="46457"/>
                        <a14:backgroundMark x1="33757" y1="43984" x2="31952" y2="48195"/>
                        <a14:backgroundMark x1="31952" y1="48195" x2="31952" y2="48195"/>
                        <a14:backgroundMark x1="31952" y1="51003" x2="32152" y2="53008"/>
                        <a14:backgroundMark x1="31551" y1="55348" x2="31016" y2="56818"/>
                        <a14:backgroundMark x1="35294" y1="52139" x2="36163" y2="48463"/>
                        <a14:backgroundMark x1="36965" y1="43717" x2="30749" y2="62567"/>
                        <a14:backgroundMark x1="39706" y1="59158" x2="57821" y2="59091"/>
                        <a14:backgroundMark x1="44586" y1="54011" x2="44610" y2="55378"/>
                        <a14:backgroundMark x1="44652" y1="57754" x2="40374" y2="58356"/>
                        <a14:backgroundMark x1="40374" y1="58356" x2="38770" y2="54612"/>
                        <a14:backgroundMark x1="38770" y1="54612" x2="44452" y2="53743"/>
                        <a14:backgroundMark x1="49434" y1="57984" x2="54479" y2="57687"/>
                        <a14:backgroundMark x1="55615" y1="57553" x2="55481" y2="57553"/>
                        <a14:backgroundMark x1="55414" y1="57553" x2="55414" y2="57553"/>
                        <a14:backgroundMark x1="55481" y1="52139" x2="55481" y2="52139"/>
                        <a14:backgroundMark x1="55481" y1="52139" x2="55615" y2="52273"/>
                        <a14:backgroundMark x1="56350" y1="52540" x2="56350" y2="52540"/>
                        <a14:backgroundMark x1="54479" y1="51404" x2="54144" y2="51003"/>
                        <a14:backgroundMark x1="42781" y1="52473" x2="39973" y2="52005"/>
                        <a14:backgroundMark x1="52889" y1="38800" x2="54144" y2="38570"/>
                        <a14:backgroundMark x1="50869" y1="39171" x2="52102" y2="38945"/>
                        <a14:backgroundMark x1="54144" y1="38570" x2="55653" y2="37816"/>
                        <a14:backgroundMark x1="58556" y1="36698" x2="57086" y2="37233"/>
                        <a14:backgroundMark x1="59960" y1="36297" x2="59960" y2="36163"/>
                        <a14:backgroundMark x1="54830" y1="53810" x2="55013" y2="54412"/>
                        <a14:backgroundMark x1="54607" y1="53075" x2="54830" y2="53810"/>
                        <a14:backgroundMark x1="54444" y1="52540" x2="54607" y2="53075"/>
                        <a14:backgroundMark x1="54078" y1="51337" x2="54444" y2="52540"/>
                        <a14:backgroundMark x1="56538" y1="55682" x2="57420" y2="56417"/>
                        <a14:backgroundMark x1="55815" y1="55080" x2="56538" y2="55682"/>
                        <a14:backgroundMark x1="55013" y1="54412" x2="55815" y2="55080"/>
                        <a14:backgroundMark x1="56162" y1="55080" x2="55281" y2="54144"/>
                        <a14:backgroundMark x1="56728" y1="55682" x2="56162" y2="55080"/>
                        <a14:backgroundMark x1="57420" y1="56417" x2="56728" y2="55682"/>
                        <a14:backgroundMark x1="56226" y1="56083" x2="56551" y2="56751"/>
                        <a14:backgroundMark x1="55868" y1="55348" x2="56226" y2="56083"/>
                        <a14:backgroundMark x1="55281" y1="54144" x2="55868" y2="55348"/>
                        <a14:backgroundMark x1="45787" y1="57842" x2="45120" y2="57754"/>
                        <a14:backgroundMark x1="45120" y1="57754" x2="45806" y2="57874"/>
                        <a14:backgroundMark x1="47710" y1="57727" x2="49666" y2="58088"/>
                        <a14:backgroundMark x1="47009" y1="57598" x2="47558" y2="57699"/>
                        <a14:backgroundMark x1="46292" y1="57465" x2="46898" y2="57577"/>
                        <a14:backgroundMark x1="45321" y1="57286" x2="46064" y2="57423"/>
                      </a14:backgroundRemoval>
                    </a14:imgEffect>
                  </a14:imgLayer>
                </a14:imgProps>
              </a:ext>
            </a:extLst>
          </a:blip>
          <a:srcRect l="42681" t="27078" r="23176" b="40079"/>
          <a:stretch/>
        </p:blipFill>
        <p:spPr>
          <a:xfrm>
            <a:off x="-113389" y="1327355"/>
            <a:ext cx="5427406" cy="52209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BAAA796-F3CC-EE69-0DD3-78C69F350A26}"/>
                  </a:ext>
                </a:extLst>
              </p:cNvPr>
              <p:cNvSpPr txBox="1"/>
              <p:nvPr/>
            </p:nvSpPr>
            <p:spPr>
              <a:xfrm>
                <a:off x="1504690" y="3772175"/>
                <a:ext cx="394852" cy="26815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ko-KR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BAAA796-F3CC-EE69-0DD3-78C69F350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690" y="3772175"/>
                <a:ext cx="394852" cy="268150"/>
              </a:xfrm>
              <a:prstGeom prst="rect">
                <a:avLst/>
              </a:prstGeom>
              <a:blipFill>
                <a:blip r:embed="rId4"/>
                <a:stretch>
                  <a:fillRect l="-12308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그룹 57"/>
          <p:cNvGrpSpPr/>
          <p:nvPr/>
        </p:nvGrpSpPr>
        <p:grpSpPr>
          <a:xfrm>
            <a:off x="406726" y="3048323"/>
            <a:ext cx="1440000" cy="1439999"/>
            <a:chOff x="-234802" y="3386304"/>
            <a:chExt cx="806400" cy="806397"/>
          </a:xfrm>
        </p:grpSpPr>
        <p:sp>
          <p:nvSpPr>
            <p:cNvPr id="71" name="원호 70">
              <a:extLst>
                <a:ext uri="{FF2B5EF4-FFF2-40B4-BE49-F238E27FC236}">
                  <a16:creationId xmlns:a16="http://schemas.microsoft.com/office/drawing/2014/main" id="{A9945FDE-9AA1-A10C-AFDF-F734D57ADBC6}"/>
                </a:ext>
              </a:extLst>
            </p:cNvPr>
            <p:cNvSpPr/>
            <p:nvPr/>
          </p:nvSpPr>
          <p:spPr>
            <a:xfrm>
              <a:off x="-234802" y="3386304"/>
              <a:ext cx="806400" cy="806397"/>
            </a:xfrm>
            <a:prstGeom prst="arc">
              <a:avLst>
                <a:gd name="adj1" fmla="val 32891"/>
                <a:gd name="adj2" fmla="val 490675"/>
              </a:avLst>
            </a:prstGeom>
            <a:ln w="28575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72" name="원호 71">
              <a:extLst>
                <a:ext uri="{FF2B5EF4-FFF2-40B4-BE49-F238E27FC236}">
                  <a16:creationId xmlns:a16="http://schemas.microsoft.com/office/drawing/2014/main" id="{A9945FDE-9AA1-A10C-AFDF-F734D57ADBC6}"/>
                </a:ext>
              </a:extLst>
            </p:cNvPr>
            <p:cNvSpPr/>
            <p:nvPr/>
          </p:nvSpPr>
          <p:spPr>
            <a:xfrm>
              <a:off x="-188472" y="3429872"/>
              <a:ext cx="705600" cy="705598"/>
            </a:xfrm>
            <a:prstGeom prst="arc">
              <a:avLst>
                <a:gd name="adj1" fmla="val 20097383"/>
                <a:gd name="adj2" fmla="val 536091"/>
              </a:avLst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</p:grp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2B36EF7-E822-B787-8D4F-0BE1E37ECCDE}"/>
              </a:ext>
            </a:extLst>
          </p:cNvPr>
          <p:cNvCxnSpPr>
            <a:cxnSpLocks/>
          </p:cNvCxnSpPr>
          <p:nvPr/>
        </p:nvCxnSpPr>
        <p:spPr>
          <a:xfrm>
            <a:off x="451154" y="3758558"/>
            <a:ext cx="4479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6287262-C987-0F37-984F-FB9E2B41E665}"/>
              </a:ext>
            </a:extLst>
          </p:cNvPr>
          <p:cNvCxnSpPr>
            <a:cxnSpLocks/>
          </p:cNvCxnSpPr>
          <p:nvPr/>
        </p:nvCxnSpPr>
        <p:spPr>
          <a:xfrm flipH="1" flipV="1">
            <a:off x="1117196" y="1037662"/>
            <a:ext cx="4598" cy="34572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A74F61A9-86DD-196D-2B70-597A2F94F942}"/>
              </a:ext>
            </a:extLst>
          </p:cNvPr>
          <p:cNvCxnSpPr>
            <a:cxnSpLocks/>
          </p:cNvCxnSpPr>
          <p:nvPr/>
        </p:nvCxnSpPr>
        <p:spPr>
          <a:xfrm flipV="1">
            <a:off x="652791" y="2319035"/>
            <a:ext cx="1860858" cy="95963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Inverse Kinematics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/>
              <p:nvPr/>
            </p:nvSpPr>
            <p:spPr>
              <a:xfrm>
                <a:off x="5497094" y="467966"/>
                <a:ext cx="3793061" cy="46917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𝐼𝑁𝑃𝑈𝑇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𝐶𝑂𝑂𝑅𝐷𝐼𝑁𝐴𝑇𝐸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𝑂𝑈𝑇𝑃𝑈𝑇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𝐴𝑁𝐺𝐿𝐸</m:t>
                      </m:r>
                    </m:oMath>
                  </m:oMathPara>
                </a14:m>
                <a:endParaRPr lang="ar-AE" altLang="ko-KR" sz="1600" dirty="0"/>
              </a:p>
              <a:p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altLang="ko-KR" sz="1600" b="0" dirty="0">
                    <a:latin typeface="Cambria Math" panose="02040503050406030204" pitchFamily="18" charset="0"/>
                  </a:rPr>
                  <a:t> … </a:t>
                </a:r>
                <a:r>
                  <a:rPr lang="ko-KR" altLang="en-US" sz="1600" b="0" dirty="0">
                    <a:latin typeface="Cambria Math" panose="02040503050406030204" pitchFamily="18" charset="0"/>
                  </a:rPr>
                  <a:t>②</a:t>
                </a:r>
                <a:endParaRPr lang="en-US" altLang="ko-KR" sz="1600" b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𝑤𝑑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𝑤𝑑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sub>
                              </m:s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sub>
                              </m:s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en-US" altLang="ko-KR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180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−(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94" y="467966"/>
                <a:ext cx="3793061" cy="4691797"/>
              </a:xfrm>
              <a:prstGeom prst="rect">
                <a:avLst/>
              </a:prstGeom>
              <a:blipFill>
                <a:blip r:embed="rId5"/>
                <a:stretch>
                  <a:fillRect l="-1929" b="-5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FC9163-67E2-3BE8-A0BB-20EB5C7F5660}"/>
                  </a:ext>
                </a:extLst>
              </p:cNvPr>
              <p:cNvSpPr txBox="1"/>
              <p:nvPr/>
            </p:nvSpPr>
            <p:spPr>
              <a:xfrm>
                <a:off x="2257586" y="3322137"/>
                <a:ext cx="27148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FC9163-67E2-3BE8-A0BB-20EB5C7F5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586" y="3322137"/>
                <a:ext cx="271484" cy="246221"/>
              </a:xfrm>
              <a:prstGeom prst="rect">
                <a:avLst/>
              </a:prstGeom>
              <a:blipFill>
                <a:blip r:embed="rId6"/>
                <a:stretch>
                  <a:fillRect l="-11111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14B207-9C69-13C5-D120-26D1197D6100}"/>
                  </a:ext>
                </a:extLst>
              </p:cNvPr>
              <p:cNvSpPr txBox="1"/>
              <p:nvPr/>
            </p:nvSpPr>
            <p:spPr>
              <a:xfrm>
                <a:off x="3206192" y="3289903"/>
                <a:ext cx="2762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14B207-9C69-13C5-D120-26D1197D6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192" y="3289903"/>
                <a:ext cx="276229" cy="246221"/>
              </a:xfrm>
              <a:prstGeom prst="rect">
                <a:avLst/>
              </a:prstGeom>
              <a:blipFill>
                <a:blip r:embed="rId7"/>
                <a:stretch>
                  <a:fillRect l="-13333" r="-2222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A9E39-8A0F-3A7D-E01B-76AF620E50F6}"/>
              </a:ext>
            </a:extLst>
          </p:cNvPr>
          <p:cNvCxnSpPr>
            <a:cxnSpLocks/>
          </p:cNvCxnSpPr>
          <p:nvPr/>
        </p:nvCxnSpPr>
        <p:spPr>
          <a:xfrm flipH="1">
            <a:off x="4446766" y="3757374"/>
            <a:ext cx="5878" cy="51681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D1C509-C2E5-A02E-71D5-B5A83772A1F1}"/>
                  </a:ext>
                </a:extLst>
              </p:cNvPr>
              <p:cNvSpPr txBox="1"/>
              <p:nvPr/>
            </p:nvSpPr>
            <p:spPr>
              <a:xfrm>
                <a:off x="2819469" y="4116849"/>
                <a:ext cx="22083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D1C509-C2E5-A02E-71D5-B5A83772A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69" y="4116849"/>
                <a:ext cx="220830" cy="246221"/>
              </a:xfrm>
              <a:prstGeom prst="rect">
                <a:avLst/>
              </a:prstGeom>
              <a:blipFill>
                <a:blip r:embed="rId8"/>
                <a:stretch>
                  <a:fillRect l="-16667" r="-11111"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B152765-BFE5-568D-D871-5EBA17AA13B6}"/>
              </a:ext>
            </a:extLst>
          </p:cNvPr>
          <p:cNvCxnSpPr>
            <a:cxnSpLocks/>
          </p:cNvCxnSpPr>
          <p:nvPr/>
        </p:nvCxnSpPr>
        <p:spPr>
          <a:xfrm>
            <a:off x="1146820" y="2769716"/>
            <a:ext cx="36009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/>
          <p:cNvGrpSpPr/>
          <p:nvPr/>
        </p:nvGrpSpPr>
        <p:grpSpPr>
          <a:xfrm>
            <a:off x="2323625" y="2506457"/>
            <a:ext cx="1390419" cy="927807"/>
            <a:chOff x="1698570" y="1412335"/>
            <a:chExt cx="1390419" cy="9278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7A8C07F-8277-5D5D-BA0B-2E097AC02EFE}"/>
                    </a:ext>
                  </a:extLst>
                </p:cNvPr>
                <p:cNvSpPr txBox="1"/>
                <p:nvPr/>
              </p:nvSpPr>
              <p:spPr>
                <a:xfrm>
                  <a:off x="2360877" y="1412335"/>
                  <a:ext cx="588751" cy="2656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7A8C07F-8277-5D5D-BA0B-2E097AC02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877" y="1412335"/>
                  <a:ext cx="588751" cy="265650"/>
                </a:xfrm>
                <a:prstGeom prst="rect">
                  <a:avLst/>
                </a:prstGeom>
                <a:blipFill>
                  <a:blip r:embed="rId9"/>
                  <a:stretch>
                    <a:fillRect l="-6250" r="-1042" b="-2045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그룹 7"/>
            <p:cNvGrpSpPr/>
            <p:nvPr/>
          </p:nvGrpSpPr>
          <p:grpSpPr>
            <a:xfrm>
              <a:off x="1698570" y="1648117"/>
              <a:ext cx="1390419" cy="692025"/>
              <a:chOff x="1698570" y="1648117"/>
              <a:chExt cx="1390419" cy="6920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99ABFE85-3A8A-B8D1-EC26-6225B4C157CF}"/>
                      </a:ext>
                    </a:extLst>
                  </p:cNvPr>
                  <p:cNvSpPr txBox="1"/>
                  <p:nvPr/>
                </p:nvSpPr>
                <p:spPr>
                  <a:xfrm>
                    <a:off x="2839177" y="1723340"/>
                    <a:ext cx="249812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6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99ABFE85-3A8A-B8D1-EC26-6225B4C157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9177" y="1723340"/>
                    <a:ext cx="249812" cy="24622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9512" r="-7317" b="-1219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D81F0D8B-B5FB-4180-AFA8-5B0A00E2B587}"/>
                      </a:ext>
                    </a:extLst>
                  </p:cNvPr>
                  <p:cNvSpPr txBox="1"/>
                  <p:nvPr/>
                </p:nvSpPr>
                <p:spPr>
                  <a:xfrm>
                    <a:off x="2271177" y="2093921"/>
                    <a:ext cx="336374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6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D81F0D8B-B5FB-4180-AFA8-5B0A00E2B5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1177" y="2093921"/>
                    <a:ext cx="336374" cy="24622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4545" r="-5455" b="-15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B7B1817C-B3DD-3571-9B63-09F744F06D34}"/>
                      </a:ext>
                    </a:extLst>
                  </p:cNvPr>
                  <p:cNvSpPr txBox="1"/>
                  <p:nvPr/>
                </p:nvSpPr>
                <p:spPr>
                  <a:xfrm>
                    <a:off x="1698570" y="1648117"/>
                    <a:ext cx="250645" cy="26584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b="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ko-KR" altLang="en-US" sz="1600" b="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600" dirty="0">
                      <a:solidFill>
                        <a:srgbClr val="FF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B7B1817C-B3DD-3571-9B63-09F744F06D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8570" y="1648117"/>
                    <a:ext cx="250645" cy="26584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9512" r="-7317" b="-2325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25365D-7282-0322-04A3-8A99D8EF1171}"/>
                  </a:ext>
                </a:extLst>
              </p:cNvPr>
              <p:cNvSpPr txBox="1"/>
              <p:nvPr/>
            </p:nvSpPr>
            <p:spPr>
              <a:xfrm>
                <a:off x="1197814" y="3076977"/>
                <a:ext cx="2450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25365D-7282-0322-04A3-8A99D8EF1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814" y="3076977"/>
                <a:ext cx="245067" cy="246221"/>
              </a:xfrm>
              <a:prstGeom prst="rect">
                <a:avLst/>
              </a:prstGeom>
              <a:blipFill>
                <a:blip r:embed="rId13"/>
                <a:stretch>
                  <a:fillRect l="-19512" r="-4878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F92F651-58B3-9255-5723-87124F455B24}"/>
                  </a:ext>
                </a:extLst>
              </p:cNvPr>
              <p:cNvSpPr txBox="1"/>
              <p:nvPr/>
            </p:nvSpPr>
            <p:spPr>
              <a:xfrm>
                <a:off x="326959" y="3219284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F92F651-58B3-9255-5723-87124F455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59" y="3219284"/>
                <a:ext cx="249812" cy="246221"/>
              </a:xfrm>
              <a:prstGeom prst="rect">
                <a:avLst/>
              </a:prstGeom>
              <a:blipFill>
                <a:blip r:embed="rId14"/>
                <a:stretch>
                  <a:fillRect l="-19512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/>
              <p:nvPr/>
            </p:nvSpPr>
            <p:spPr>
              <a:xfrm>
                <a:off x="1209974" y="3766527"/>
                <a:ext cx="250645" cy="265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974" y="3766527"/>
                <a:ext cx="250645" cy="265842"/>
              </a:xfrm>
              <a:prstGeom prst="rect">
                <a:avLst/>
              </a:prstGeom>
              <a:blipFill>
                <a:blip r:embed="rId15"/>
                <a:stretch>
                  <a:fillRect l="-19048" r="-4762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원호 64">
            <a:extLst>
              <a:ext uri="{FF2B5EF4-FFF2-40B4-BE49-F238E27FC236}">
                <a16:creationId xmlns:a16="http://schemas.microsoft.com/office/drawing/2014/main" id="{A9945FDE-9AA1-A10C-AFDF-F734D57ADBC6}"/>
              </a:ext>
            </a:extLst>
          </p:cNvPr>
          <p:cNvSpPr/>
          <p:nvPr/>
        </p:nvSpPr>
        <p:spPr>
          <a:xfrm>
            <a:off x="703188" y="3291055"/>
            <a:ext cx="900000" cy="900000"/>
          </a:xfrm>
          <a:prstGeom prst="arc">
            <a:avLst>
              <a:gd name="adj1" fmla="val 10696490"/>
              <a:gd name="adj2" fmla="val 13309739"/>
            </a:avLst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/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993A8C22-441B-A167-A3E6-137F6C3068CB}"/>
              </a:ext>
            </a:extLst>
          </p:cNvPr>
          <p:cNvSpPr/>
          <p:nvPr/>
        </p:nvSpPr>
        <p:spPr>
          <a:xfrm>
            <a:off x="671000" y="3306965"/>
            <a:ext cx="900000" cy="900000"/>
          </a:xfrm>
          <a:prstGeom prst="arc">
            <a:avLst>
              <a:gd name="adj1" fmla="val 20212725"/>
              <a:gd name="adj2" fmla="val 21467439"/>
            </a:avLst>
          </a:prstGeom>
          <a:ln w="2857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sp>
        <p:nvSpPr>
          <p:cNvPr id="27" name="원호 26">
            <a:extLst>
              <a:ext uri="{FF2B5EF4-FFF2-40B4-BE49-F238E27FC236}">
                <a16:creationId xmlns:a16="http://schemas.microsoft.com/office/drawing/2014/main" id="{59564C68-FAAD-4DE5-5ADF-CF558BE3AA0F}"/>
              </a:ext>
            </a:extLst>
          </p:cNvPr>
          <p:cNvSpPr/>
          <p:nvPr/>
        </p:nvSpPr>
        <p:spPr>
          <a:xfrm>
            <a:off x="669847" y="3307723"/>
            <a:ext cx="900000" cy="900000"/>
          </a:xfrm>
          <a:prstGeom prst="arc">
            <a:avLst>
              <a:gd name="adj1" fmla="val 16248765"/>
              <a:gd name="adj2" fmla="val 20006683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F51342D-8C98-781A-F799-B30B74E4965A}"/>
              </a:ext>
            </a:extLst>
          </p:cNvPr>
          <p:cNvGrpSpPr/>
          <p:nvPr/>
        </p:nvGrpSpPr>
        <p:grpSpPr>
          <a:xfrm>
            <a:off x="2538022" y="2323918"/>
            <a:ext cx="900000" cy="900000"/>
            <a:chOff x="2538546" y="2320860"/>
            <a:chExt cx="900000" cy="900000"/>
          </a:xfrm>
        </p:grpSpPr>
        <p:sp>
          <p:nvSpPr>
            <p:cNvPr id="3" name="원호 2">
              <a:extLst>
                <a:ext uri="{FF2B5EF4-FFF2-40B4-BE49-F238E27FC236}">
                  <a16:creationId xmlns:a16="http://schemas.microsoft.com/office/drawing/2014/main" id="{CC3CCF5F-3AB1-008D-CC52-84954D38C7C6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21571423"/>
                <a:gd name="adj2" fmla="val 2864979"/>
              </a:avLst>
            </a:prstGeom>
            <a:ln w="285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29" name="원호 28">
              <a:extLst>
                <a:ext uri="{FF2B5EF4-FFF2-40B4-BE49-F238E27FC236}">
                  <a16:creationId xmlns:a16="http://schemas.microsoft.com/office/drawing/2014/main" id="{B435F339-9417-BAEA-F86D-23B892F3A646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9018872"/>
                <a:gd name="adj2" fmla="val 10851286"/>
              </a:avLst>
            </a:prstGeom>
            <a:ln w="28575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 dirty="0"/>
            </a:p>
          </p:txBody>
        </p:sp>
        <p:sp>
          <p:nvSpPr>
            <p:cNvPr id="35" name="원호 34">
              <a:extLst>
                <a:ext uri="{FF2B5EF4-FFF2-40B4-BE49-F238E27FC236}">
                  <a16:creationId xmlns:a16="http://schemas.microsoft.com/office/drawing/2014/main" id="{8A1D8A0C-1562-CAE5-C9B2-723BA279FBF1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2957405"/>
                <a:gd name="adj2" fmla="val 8885808"/>
              </a:avLst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BAD2688-8AFA-B21A-D34F-A769213285EE}"/>
              </a:ext>
            </a:extLst>
          </p:cNvPr>
          <p:cNvCxnSpPr>
            <a:cxnSpLocks/>
          </p:cNvCxnSpPr>
          <p:nvPr/>
        </p:nvCxnSpPr>
        <p:spPr>
          <a:xfrm flipH="1" flipV="1">
            <a:off x="2504076" y="2319035"/>
            <a:ext cx="1974473" cy="1982213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타원 54"/>
          <p:cNvSpPr/>
          <p:nvPr/>
        </p:nvSpPr>
        <p:spPr>
          <a:xfrm>
            <a:off x="2454606" y="2267974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CAD24F3-6134-FB3E-C843-6D01DC789942}"/>
              </a:ext>
            </a:extLst>
          </p:cNvPr>
          <p:cNvCxnSpPr>
            <a:cxnSpLocks/>
            <a:endCxn id="43" idx="6"/>
          </p:cNvCxnSpPr>
          <p:nvPr/>
        </p:nvCxnSpPr>
        <p:spPr>
          <a:xfrm>
            <a:off x="1127516" y="3758559"/>
            <a:ext cx="3384513" cy="539274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BAD2688-8AFA-B21A-D34F-A769213285EE}"/>
              </a:ext>
            </a:extLst>
          </p:cNvPr>
          <p:cNvCxnSpPr>
            <a:cxnSpLocks/>
          </p:cNvCxnSpPr>
          <p:nvPr/>
        </p:nvCxnSpPr>
        <p:spPr>
          <a:xfrm flipH="1" flipV="1">
            <a:off x="656960" y="3263200"/>
            <a:ext cx="457262" cy="47508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615985" y="3217483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9FF432F-8A29-0A59-A383-FA7999A7D1B6}"/>
                  </a:ext>
                </a:extLst>
              </p:cNvPr>
              <p:cNvSpPr txBox="1"/>
              <p:nvPr/>
            </p:nvSpPr>
            <p:spPr>
              <a:xfrm>
                <a:off x="3726293" y="4667321"/>
                <a:ext cx="615168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9FF432F-8A29-0A59-A383-FA7999A7D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293" y="4667321"/>
                <a:ext cx="615168" cy="265650"/>
              </a:xfrm>
              <a:prstGeom prst="rect">
                <a:avLst/>
              </a:prstGeom>
              <a:blipFill>
                <a:blip r:embed="rId16"/>
                <a:stretch>
                  <a:fillRect l="-4950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E4D1205-544C-F8D5-6FAD-576844BC9A12}"/>
                  </a:ext>
                </a:extLst>
              </p:cNvPr>
              <p:cNvSpPr txBox="1"/>
              <p:nvPr/>
            </p:nvSpPr>
            <p:spPr>
              <a:xfrm>
                <a:off x="4460442" y="4667321"/>
                <a:ext cx="589905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E4D1205-544C-F8D5-6FAD-576844BC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442" y="4667321"/>
                <a:ext cx="589905" cy="265650"/>
              </a:xfrm>
              <a:prstGeom prst="rect">
                <a:avLst/>
              </a:prstGeom>
              <a:blipFill>
                <a:blip r:embed="rId17"/>
                <a:stretch>
                  <a:fillRect l="-6250" r="-1042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181487BE-8FD0-9375-2753-B61484B59716}"/>
              </a:ext>
            </a:extLst>
          </p:cNvPr>
          <p:cNvCxnSpPr>
            <a:cxnSpLocks/>
          </p:cNvCxnSpPr>
          <p:nvPr/>
        </p:nvCxnSpPr>
        <p:spPr>
          <a:xfrm flipV="1">
            <a:off x="4252558" y="4309155"/>
            <a:ext cx="197922" cy="366773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6AD14B0B-6823-A746-C727-C172E2CDB9F6}"/>
              </a:ext>
            </a:extLst>
          </p:cNvPr>
          <p:cNvCxnSpPr>
            <a:cxnSpLocks/>
          </p:cNvCxnSpPr>
          <p:nvPr/>
        </p:nvCxnSpPr>
        <p:spPr>
          <a:xfrm flipV="1">
            <a:off x="4905646" y="4309155"/>
            <a:ext cx="197922" cy="366773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036B2A4-8648-3BA2-42B2-DA6C599B1836}"/>
              </a:ext>
            </a:extLst>
          </p:cNvPr>
          <p:cNvSpPr/>
          <p:nvPr/>
        </p:nvSpPr>
        <p:spPr>
          <a:xfrm>
            <a:off x="5382798" y="4559392"/>
            <a:ext cx="2421246" cy="6358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6EDE05-5421-00D2-050B-489235F2F7B7}"/>
                  </a:ext>
                </a:extLst>
              </p:cNvPr>
              <p:cNvSpPr txBox="1"/>
              <p:nvPr/>
            </p:nvSpPr>
            <p:spPr>
              <a:xfrm>
                <a:off x="1760852" y="3445247"/>
                <a:ext cx="26238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6EDE05-5421-00D2-050B-489235F2F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852" y="3445247"/>
                <a:ext cx="262380" cy="246221"/>
              </a:xfrm>
              <a:prstGeom prst="rect">
                <a:avLst/>
              </a:prstGeom>
              <a:blipFill>
                <a:blip r:embed="rId18"/>
                <a:stretch>
                  <a:fillRect l="-18605" b="-9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DB8918C-07BF-AE50-00C8-A2FF503F7548}"/>
              </a:ext>
            </a:extLst>
          </p:cNvPr>
          <p:cNvCxnSpPr>
            <a:cxnSpLocks/>
          </p:cNvCxnSpPr>
          <p:nvPr/>
        </p:nvCxnSpPr>
        <p:spPr>
          <a:xfrm flipH="1">
            <a:off x="4446766" y="4301688"/>
            <a:ext cx="668392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/>
          <p:cNvGrpSpPr/>
          <p:nvPr/>
        </p:nvGrpSpPr>
        <p:grpSpPr>
          <a:xfrm>
            <a:off x="4402489" y="4051635"/>
            <a:ext cx="745326" cy="309742"/>
            <a:chOff x="4641495" y="2003004"/>
            <a:chExt cx="745326" cy="3097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68A9F2E-B92F-111A-8633-EC98066D88EB}"/>
                    </a:ext>
                  </a:extLst>
                </p:cNvPr>
                <p:cNvSpPr txBox="1"/>
                <p:nvPr/>
              </p:nvSpPr>
              <p:spPr>
                <a:xfrm>
                  <a:off x="4814801" y="2003004"/>
                  <a:ext cx="349583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𝑤𝑑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68A9F2E-B92F-111A-8633-EC98066D88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4801" y="2003004"/>
                  <a:ext cx="349583" cy="246221"/>
                </a:xfrm>
                <a:prstGeom prst="rect">
                  <a:avLst/>
                </a:prstGeom>
                <a:blipFill>
                  <a:blip r:embed="rId19"/>
                  <a:stretch>
                    <a:fillRect l="-10526" r="-7018" b="-75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타원 42"/>
            <p:cNvSpPr/>
            <p:nvPr/>
          </p:nvSpPr>
          <p:spPr>
            <a:xfrm>
              <a:off x="4641495" y="2193850"/>
              <a:ext cx="109540" cy="1107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/>
            <p:cNvSpPr/>
            <p:nvPr/>
          </p:nvSpPr>
          <p:spPr>
            <a:xfrm>
              <a:off x="5277281" y="2202042"/>
              <a:ext cx="109540" cy="1107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F4644D97-6506-569A-4F22-4F6E4152FBD2}"/>
              </a:ext>
            </a:extLst>
          </p:cNvPr>
          <p:cNvCxnSpPr>
            <a:cxnSpLocks/>
          </p:cNvCxnSpPr>
          <p:nvPr/>
        </p:nvCxnSpPr>
        <p:spPr>
          <a:xfrm>
            <a:off x="3823234" y="2778721"/>
            <a:ext cx="0" cy="818643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2BADFB78-D110-FDB7-F1A7-F42FB00BA8FE}"/>
              </a:ext>
            </a:extLst>
          </p:cNvPr>
          <p:cNvCxnSpPr>
            <a:cxnSpLocks/>
          </p:cNvCxnSpPr>
          <p:nvPr/>
        </p:nvCxnSpPr>
        <p:spPr>
          <a:xfrm>
            <a:off x="1131208" y="3083778"/>
            <a:ext cx="119241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4253DE29-D419-535B-E5F9-809A74A5A572}"/>
              </a:ext>
            </a:extLst>
          </p:cNvPr>
          <p:cNvCxnSpPr>
            <a:cxnSpLocks/>
          </p:cNvCxnSpPr>
          <p:nvPr/>
        </p:nvCxnSpPr>
        <p:spPr>
          <a:xfrm flipV="1">
            <a:off x="540220" y="3359945"/>
            <a:ext cx="170499" cy="380569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74F61A9-86DD-196D-2B70-597A2F94F942}"/>
              </a:ext>
            </a:extLst>
          </p:cNvPr>
          <p:cNvCxnSpPr>
            <a:cxnSpLocks/>
          </p:cNvCxnSpPr>
          <p:nvPr/>
        </p:nvCxnSpPr>
        <p:spPr>
          <a:xfrm flipV="1">
            <a:off x="1171497" y="2804587"/>
            <a:ext cx="1814032" cy="94832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타원 53"/>
          <p:cNvSpPr/>
          <p:nvPr/>
        </p:nvSpPr>
        <p:spPr>
          <a:xfrm>
            <a:off x="2930759" y="2750499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/>
          <p:cNvSpPr/>
          <p:nvPr/>
        </p:nvSpPr>
        <p:spPr>
          <a:xfrm>
            <a:off x="1064511" y="3700357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12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4E4A5-50AD-9036-F4B7-AEBC4E70A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6FCECCA3-4CD3-72ED-793E-3E14ED54955E}"/>
              </a:ext>
            </a:extLst>
          </p:cNvPr>
          <p:cNvSpPr txBox="1"/>
          <p:nvPr/>
        </p:nvSpPr>
        <p:spPr>
          <a:xfrm>
            <a:off x="145825" y="717196"/>
            <a:ext cx="899817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void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Inverse_Kinematics_Calculator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(double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P_x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double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P_y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  <a:endParaRPr lang="ko-KR" altLang="en-US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  double boomangle_th1, armangle_th2, th21, D, alpha, psi;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y_offset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endeffectoroffset_wd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boom_L1, arm_L3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P_x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P_y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double boomangle_th1, armangle_th2, th21, D, alpha, psi;</a:t>
            </a:r>
          </a:p>
          <a:p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//1.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계산의 편의를 위해 </a:t>
            </a:r>
            <a:r>
              <a:rPr lang="ko-KR" altLang="en-US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엔드이펙터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관절부로 오프셋 차감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줄</a:t>
            </a:r>
            <a:endParaRPr lang="en-US" altLang="ko-KR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P_y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-=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y_offset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오프셋 제거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P_x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-=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endeffectoroffset_wd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오프셋 제거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//2.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피타고라스 정리를 이용하여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계산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줄</a:t>
            </a:r>
            <a:endParaRPr lang="en-US" altLang="ko-KR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D = sqrt(pow(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P_x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2) + pow(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P_y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2));//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엔드이펙터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관절의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차원 공간 위치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//3.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제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코사인 법칙을 통해 붐과 암 사이 각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(th21)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구하기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줄</a:t>
            </a:r>
            <a:endParaRPr lang="en-US" altLang="ko-KR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th21 =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acos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((pow(boom_L1, 2) + pow(arm_L3, 2) - pow(D, 2)) / (2 * boom_L1 * arm_L3));</a:t>
            </a:r>
          </a:p>
          <a:p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//4.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제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코사인 법칙을 통해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와 붐 사이 각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(alpha)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구하기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줄</a:t>
            </a:r>
            <a:endParaRPr lang="en-US" altLang="ko-KR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alpha =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acos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((pow(boom_L1, 2) + pow(D, 2) - pow(arm_L3, 2)) / (2 * boom_L1 * D));</a:t>
            </a:r>
          </a:p>
          <a:p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//5.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제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코사인 법칙을 통해 지면과 붐 사이 각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(beta = psi)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구하기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줄</a:t>
            </a:r>
            <a:endParaRPr lang="en-US" altLang="ko-KR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psi =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acos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((pow(D, 2) + pow(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P_x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2) - pow(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P_y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2)) / (2 * D *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P_x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));</a:t>
            </a: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  <a:endParaRPr lang="ko-KR" altLang="en-US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A531B3C-3233-146C-F5B9-EF05E15B6858}"/>
              </a:ext>
            </a:extLst>
          </p:cNvPr>
          <p:cNvSpPr txBox="1">
            <a:spLocks/>
          </p:cNvSpPr>
          <p:nvPr/>
        </p:nvSpPr>
        <p:spPr>
          <a:xfrm>
            <a:off x="145825" y="228854"/>
            <a:ext cx="7886700" cy="488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Inverse Kinematics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874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FE864-FFCE-B866-5B94-34C0114CB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305CA9F5-FA81-D718-1F8D-DAB131194328}"/>
              </a:ext>
            </a:extLst>
          </p:cNvPr>
          <p:cNvSpPr txBox="1"/>
          <p:nvPr/>
        </p:nvSpPr>
        <p:spPr>
          <a:xfrm>
            <a:off x="145825" y="717196"/>
            <a:ext cx="899817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void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Inverse_Kinematics_Calculator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(double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P_x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double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P_y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//6.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계산된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개의 라디안 도 변환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(deg = rad*180/PI) 3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줄</a:t>
            </a:r>
            <a:endParaRPr lang="en-US" altLang="ko-KR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alpha = degrees(alpha);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psi = degrees(psi);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th21 = degrees(th21);//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암 사이 각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//7.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</a:t>
            </a:r>
            <a:r>
              <a:rPr lang="ko-KR" altLang="en-US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중앙축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좌표 기준 </a:t>
            </a:r>
            <a:r>
              <a:rPr lang="ko-KR" altLang="en-US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엔드이펙터의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좌표가 이상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(alpha + psi)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인지 이하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(alpha - psi)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별 수식 작성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각도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(boomangle_th1)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계산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if (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P_y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&gt;= 0) boomangle_th1 = alpha + psi;//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엔드이펙터의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높이가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boom,arm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모터의 중심보다 위에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있을경우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else boomangle_th1 = alpha - psi;//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엔드이펙터의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높이가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boom,arm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모터의 중심보다 아래에 </a:t>
            </a:r>
            <a:r>
              <a:rPr lang="ko-KR" altLang="en-US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있을경우</a:t>
            </a:r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//8. </a:t>
            </a:r>
            <a:r>
              <a:rPr lang="ko-KR" altLang="en-US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사잇각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(th21) +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붐 각도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(boomangle_th1) =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암 각도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(armangle_th2)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계산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줄</a:t>
            </a:r>
            <a:endParaRPr lang="en-US" altLang="ko-KR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armangle_th2 = th21 + boomangle_th1; 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암 모터 각도</a:t>
            </a:r>
          </a:p>
          <a:p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//9.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모터에 맞는 </a:t>
            </a:r>
            <a:r>
              <a:rPr lang="ko-KR" altLang="en-US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기준축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간의 각도 값 변환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((-1*boomangle_th1)+90, (-1*armangle_th2)+180 =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out_boomangle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out_armangle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2 </a:t>
            </a:r>
            <a:r>
              <a:rPr lang="ko-KR" altLang="en-US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줄</a:t>
            </a:r>
            <a:endParaRPr lang="en-US" altLang="ko-KR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out_boomangle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(-1*boomangle_th1)+90;//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오프셋 제외 최종 각도 붐</a:t>
            </a:r>
          </a:p>
          <a:p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en-US" altLang="ko-KR" sz="14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out_armangle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= (-1*armangle_th2)+180;//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오프셋 제외 최종 각도 암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}</a:t>
            </a:r>
            <a:endParaRPr lang="ko-KR" altLang="en-US" sz="1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1861BC4-AD7C-A73F-299D-F986169FF488}"/>
              </a:ext>
            </a:extLst>
          </p:cNvPr>
          <p:cNvSpPr txBox="1">
            <a:spLocks/>
          </p:cNvSpPr>
          <p:nvPr/>
        </p:nvSpPr>
        <p:spPr>
          <a:xfrm>
            <a:off x="145825" y="228854"/>
            <a:ext cx="7886700" cy="488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Inverse Kinematics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73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446AF-5B6C-2AC2-34C5-05A10082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FB576964-561F-A4F2-8A3D-606C9A81AC78}"/>
              </a:ext>
            </a:extLst>
          </p:cNvPr>
          <p:cNvSpPr txBox="1"/>
          <p:nvPr/>
        </p:nvSpPr>
        <p:spPr>
          <a:xfrm>
            <a:off x="145825" y="717196"/>
            <a:ext cx="899817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 order to put the desired action, created a separate function to put the code in performance_(1~6).</a:t>
            </a:r>
          </a:p>
          <a:p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Practice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Write the desired action to the function (ex. performance_1) and upload it.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Modify the initial posture with the </a:t>
            </a:r>
            <a:r>
              <a:rPr lang="en-US" altLang="ko-KR" sz="1400" u="sng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manual control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button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Initialize with Arduino reset button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4. Enforce the desired action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5. </a:t>
            </a:r>
            <a:r>
              <a:rPr lang="en-US" altLang="ko-KR" sz="1400" u="sng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Emergency stop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in case of an abnormality in operation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A616876-C690-AD2B-3560-6810242BC691}"/>
              </a:ext>
            </a:extLst>
          </p:cNvPr>
          <p:cNvSpPr txBox="1">
            <a:spLocks/>
          </p:cNvSpPr>
          <p:nvPr/>
        </p:nvSpPr>
        <p:spPr>
          <a:xfrm>
            <a:off x="145825" y="228854"/>
            <a:ext cx="7886700" cy="488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How to design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4D5C40-6149-1073-6CF0-5D83770FB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91" y="3120887"/>
            <a:ext cx="2590605" cy="33770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957C72-0729-E0AF-C030-9CD7FBC241C7}"/>
              </a:ext>
            </a:extLst>
          </p:cNvPr>
          <p:cNvSpPr txBox="1"/>
          <p:nvPr/>
        </p:nvSpPr>
        <p:spPr>
          <a:xfrm>
            <a:off x="3616597" y="3349941"/>
            <a:ext cx="5527404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Bottom </a:t>
            </a:r>
            <a:r>
              <a:rPr lang="en-US" altLang="ko-KR" sz="1400" dirty="0">
                <a:solidFill>
                  <a:srgbClr val="00B0F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Blue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button: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button Angular manual control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Top </a:t>
            </a:r>
            <a:r>
              <a:rPr lang="en-US" altLang="ko-KR" sz="1400" dirty="0">
                <a:solidFill>
                  <a:srgbClr val="00B0F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blue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button: 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Serial communication </a:t>
            </a:r>
            <a:r>
              <a:rPr lang="en-US" altLang="ko-KR" sz="1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InverseKinematics</a:t>
            </a:r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manual control</a:t>
            </a:r>
          </a:p>
          <a:p>
            <a:r>
              <a:rPr lang="en-US" altLang="ko-KR" sz="9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(‘</a:t>
            </a:r>
            <a:r>
              <a:rPr lang="en-US" altLang="ko-KR" sz="9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w,a,s,d</a:t>
            </a:r>
            <a:r>
              <a:rPr lang="en-US" altLang="ko-KR" sz="9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' input in the serial window and moved, ‘</a:t>
            </a:r>
            <a:r>
              <a:rPr lang="en-US" altLang="ko-KR" sz="9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q,e,f,g</a:t>
            </a:r>
            <a:r>
              <a:rPr lang="en-US" altLang="ko-KR" sz="9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’ just </a:t>
            </a:r>
            <a:r>
              <a:rPr lang="en-US" altLang="ko-KR" sz="9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setted</a:t>
            </a:r>
            <a:r>
              <a:rPr lang="en-US" altLang="ko-KR" sz="9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.)</a:t>
            </a:r>
            <a:endParaRPr lang="en-US" altLang="ko-KR" sz="1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Bottom </a:t>
            </a:r>
            <a:r>
              <a:rPr lang="en-US" altLang="ko-KR" sz="1400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green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button: performance_1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Top </a:t>
            </a:r>
            <a:r>
              <a:rPr lang="en-US" altLang="ko-KR" sz="1400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green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button: performance_2</a:t>
            </a:r>
          </a:p>
          <a:p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Bottom </a:t>
            </a:r>
            <a:r>
              <a:rPr lang="en-US" altLang="ko-KR" sz="1400" dirty="0">
                <a:solidFill>
                  <a:srgbClr val="FFFF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Yellow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button: perfomance_3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Top </a:t>
            </a:r>
            <a:r>
              <a:rPr lang="en-US" altLang="ko-KR" sz="1400" dirty="0">
                <a:solidFill>
                  <a:srgbClr val="FFFF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Yellow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button: perfomance_4</a:t>
            </a:r>
          </a:p>
          <a:p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Bottom </a:t>
            </a:r>
            <a:r>
              <a:rPr lang="en-US" altLang="ko-KR" sz="14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red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button: perfomance_5</a:t>
            </a:r>
          </a:p>
          <a:p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Top </a:t>
            </a:r>
            <a:r>
              <a:rPr lang="en-US" altLang="ko-KR" sz="14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red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button: perfomance_6</a:t>
            </a:r>
          </a:p>
        </p:txBody>
      </p:sp>
    </p:spTree>
    <p:extLst>
      <p:ext uri="{BB962C8B-B14F-4D97-AF65-F5344CB8AC3E}">
        <p14:creationId xmlns:p14="http://schemas.microsoft.com/office/powerpoint/2010/main" val="804974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65B474-B50E-6AAD-C85E-EFCDE8E16D80}"/>
              </a:ext>
            </a:extLst>
          </p:cNvPr>
          <p:cNvSpPr txBox="1"/>
          <p:nvPr/>
        </p:nvSpPr>
        <p:spPr>
          <a:xfrm>
            <a:off x="201651" y="2720176"/>
            <a:ext cx="8754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/>
              <a:t>Thanks.</a:t>
            </a:r>
            <a:endParaRPr lang="ko-KR" altLang="en-US" sz="3600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FC6905C-561C-4845-A759-EEA41EE205EE}"/>
              </a:ext>
            </a:extLst>
          </p:cNvPr>
          <p:cNvGrpSpPr/>
          <p:nvPr/>
        </p:nvGrpSpPr>
        <p:grpSpPr>
          <a:xfrm>
            <a:off x="2434852" y="5998225"/>
            <a:ext cx="4276464" cy="597557"/>
            <a:chOff x="2434852" y="5998225"/>
            <a:chExt cx="4276464" cy="59755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AF02F01-78B2-4A3F-B353-C296CEA45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4852" y="6020001"/>
              <a:ext cx="2388077" cy="55400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5950A42-92B2-4F53-9017-7B68BE03E3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430" r="5092" b="15399"/>
            <a:stretch/>
          </p:blipFill>
          <p:spPr>
            <a:xfrm>
              <a:off x="4917119" y="5998225"/>
              <a:ext cx="1794197" cy="597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742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16584</TotalTime>
  <Words>2333</Words>
  <Application>Microsoft Office PowerPoint</Application>
  <PresentationFormat>화면 슬라이드 쇼(4:3)</PresentationFormat>
  <Paragraphs>328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8" baseType="lpstr">
      <vt:lpstr>Cambria Math</vt:lpstr>
      <vt:lpstr>Arial</vt:lpstr>
      <vt:lpstr>맑은 고딕</vt:lpstr>
      <vt:lpstr>나눔스퀘어 ExtraBold</vt:lpstr>
      <vt:lpstr>Calibri</vt:lpstr>
      <vt:lpstr>Calibri Light</vt:lpstr>
      <vt:lpstr>나눔스퀘어</vt:lpstr>
      <vt:lpstr>Office 테마</vt:lpstr>
      <vt:lpstr>PowerPoint 프레젠테이션</vt:lpstr>
      <vt:lpstr>Table of Contents</vt:lpstr>
      <vt:lpstr>learning objectives – Forward Kinematics</vt:lpstr>
      <vt:lpstr>Forward Kinematics needs</vt:lpstr>
      <vt:lpstr>Direction of control practice</vt:lpstr>
      <vt:lpstr>Stepper motor</vt:lpstr>
      <vt:lpstr>Stepper motor action &amp; angle input action</vt:lpstr>
      <vt:lpstr>Stepper motor action &amp; angle input action</vt:lpstr>
      <vt:lpstr>Gear ratio calculate</vt:lpstr>
      <vt:lpstr>Gear ratio calculate</vt:lpstr>
      <vt:lpstr>Current angle check</vt:lpstr>
      <vt:lpstr>Forward Kinematics</vt:lpstr>
      <vt:lpstr>Forward Kinematics</vt:lpstr>
      <vt:lpstr>Inverse Kinematics</vt:lpstr>
      <vt:lpstr>Inverse Kinematics</vt:lpstr>
      <vt:lpstr>Inverse Kinematics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김우용</dc:creator>
  <cp:lastModifiedBy>박동식/바이오-로봇시스템공학과</cp:lastModifiedBy>
  <cp:revision>1296</cp:revision>
  <dcterms:created xsi:type="dcterms:W3CDTF">2022-06-29T12:24:12Z</dcterms:created>
  <dcterms:modified xsi:type="dcterms:W3CDTF">2026-07-22T08:29:08Z</dcterms:modified>
</cp:coreProperties>
</file>